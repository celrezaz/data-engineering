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67" r:id="rId5"/>
    <p:sldId id="268" r:id="rId6"/>
    <p:sldId id="260" r:id="rId7"/>
    <p:sldId id="273" r:id="rId8"/>
    <p:sldId id="271" r:id="rId9"/>
    <p:sldId id="266" r:id="rId10"/>
    <p:sldId id="270" r:id="rId11"/>
    <p:sldId id="269" r:id="rId12"/>
    <p:sldId id="272" r:id="rId1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5341"/>
    <a:srgbClr val="012448"/>
    <a:srgbClr val="FF5E03"/>
    <a:srgbClr val="EE89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729" autoAdjust="0"/>
  </p:normalViewPr>
  <p:slideViewPr>
    <p:cSldViewPr snapToGrid="0">
      <p:cViewPr varScale="1">
        <p:scale>
          <a:sx n="81" d="100"/>
          <a:sy n="81" d="100"/>
        </p:scale>
        <p:origin x="175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F006F4-B9E8-4B33-A28F-28D92E6025B8}" type="datetimeFigureOut">
              <a:rPr lang="es-ES" smtClean="0"/>
              <a:t>21/05/2026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DF327B-A70F-4C68-8FB2-BCFAD4782423}" type="slidenum">
              <a:rPr lang="es-ES" smtClean="0"/>
              <a:t>‹Nº›</a:t>
            </a:fld>
            <a:endParaRPr lang="es-ES"/>
          </a:p>
        </p:txBody>
      </p:sp>
    </p:spTree>
    <p:extLst>
      <p:ext uri="{BB962C8B-B14F-4D97-AF65-F5344CB8AC3E}">
        <p14:creationId xmlns:p14="http://schemas.microsoft.com/office/powerpoint/2010/main" val="2301806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0ADF327B-A70F-4C68-8FB2-BCFAD4782423}" type="slidenum">
              <a:rPr lang="es-ES" smtClean="0"/>
              <a:t>1</a:t>
            </a:fld>
            <a:endParaRPr lang="es-ES"/>
          </a:p>
        </p:txBody>
      </p:sp>
    </p:spTree>
    <p:extLst>
      <p:ext uri="{BB962C8B-B14F-4D97-AF65-F5344CB8AC3E}">
        <p14:creationId xmlns:p14="http://schemas.microsoft.com/office/powerpoint/2010/main" val="740128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dirty="0" err="1"/>
              <a:t>CroceaPharma</a:t>
            </a:r>
            <a:r>
              <a:rPr lang="es-ES" dirty="0"/>
              <a:t> es una empresa ficticia que representa un posible cliente potencial que quiere que su empresa comience a tomar decisiones </a:t>
            </a:r>
            <a:r>
              <a:rPr lang="es-ES" i="1" dirty="0"/>
              <a:t>Data-</a:t>
            </a:r>
            <a:r>
              <a:rPr lang="es-ES" i="1" dirty="0" err="1"/>
              <a:t>Driven</a:t>
            </a:r>
            <a:r>
              <a:rPr lang="es-ES" i="0" dirty="0"/>
              <a:t> y para ello ceden parte de sus ventas históricas</a:t>
            </a:r>
            <a:r>
              <a:rPr lang="es-ES" dirty="0"/>
              <a:t>. </a:t>
            </a:r>
          </a:p>
          <a:p>
            <a:pPr algn="l"/>
            <a:endParaRPr lang="es-ES" dirty="0"/>
          </a:p>
          <a:p>
            <a:pPr algn="l"/>
            <a:r>
              <a:rPr lang="es-ES" dirty="0"/>
              <a:t>Uno de los </a:t>
            </a:r>
            <a:r>
              <a:rPr lang="es-ES" dirty="0" err="1"/>
              <a:t>csvs</a:t>
            </a:r>
            <a:r>
              <a:rPr lang="es-ES" dirty="0"/>
              <a:t> se obtuvo de la plataforma </a:t>
            </a:r>
            <a:r>
              <a:rPr lang="es-ES" dirty="0" err="1"/>
              <a:t>kaggle</a:t>
            </a:r>
            <a:r>
              <a:rPr lang="es-ES" dirty="0"/>
              <a:t>. El otro es de creación propia con fallos en lo tipos, nulos y duplicados para hacer una limpieza adecuada y también ampliar los casos de uso. </a:t>
            </a:r>
          </a:p>
          <a:p>
            <a:pPr algn="l"/>
            <a:endParaRPr lang="es-ES" dirty="0"/>
          </a:p>
          <a:p>
            <a:pPr algn="l"/>
            <a:r>
              <a:rPr lang="es-ES" dirty="0"/>
              <a:t>Estos </a:t>
            </a:r>
            <a:r>
              <a:rPr lang="es-ES" dirty="0" err="1"/>
              <a:t>CSVs</a:t>
            </a:r>
            <a:r>
              <a:rPr lang="es-ES" dirty="0"/>
              <a:t> son los que están alojados en nuestra capa bronce. </a:t>
            </a:r>
          </a:p>
        </p:txBody>
      </p:sp>
      <p:sp>
        <p:nvSpPr>
          <p:cNvPr id="4" name="Marcador de número de diapositiva 3"/>
          <p:cNvSpPr>
            <a:spLocks noGrp="1"/>
          </p:cNvSpPr>
          <p:nvPr>
            <p:ph type="sldNum" sz="quarter" idx="5"/>
          </p:nvPr>
        </p:nvSpPr>
        <p:spPr/>
        <p:txBody>
          <a:bodyPr/>
          <a:lstStyle/>
          <a:p>
            <a:fld id="{0ADF327B-A70F-4C68-8FB2-BCFAD4782423}" type="slidenum">
              <a:rPr lang="es-ES" smtClean="0"/>
              <a:t>2</a:t>
            </a:fld>
            <a:endParaRPr lang="es-ES"/>
          </a:p>
        </p:txBody>
      </p:sp>
    </p:spTree>
    <p:extLst>
      <p:ext uri="{BB962C8B-B14F-4D97-AF65-F5344CB8AC3E}">
        <p14:creationId xmlns:p14="http://schemas.microsoft.com/office/powerpoint/2010/main" val="86614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1B967-99DC-6732-410D-1FEA530888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B2BAF8-1BDD-1D09-A3AF-FB29562E58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8B8FD5-08F5-2438-D3B4-9B97DD840EB0}"/>
              </a:ext>
            </a:extLst>
          </p:cNvPr>
          <p:cNvSpPr>
            <a:spLocks noGrp="1"/>
          </p:cNvSpPr>
          <p:nvPr>
            <p:ph type="body" idx="1"/>
          </p:nvPr>
        </p:nvSpPr>
        <p:spPr/>
        <p:txBody>
          <a:bodyPr/>
          <a:lstStyle/>
          <a:p>
            <a:r>
              <a:rPr lang="es-ES" dirty="0"/>
              <a:t>El modelo relacional, alojado en la capa </a:t>
            </a:r>
            <a:r>
              <a:rPr lang="es-ES" dirty="0" err="1"/>
              <a:t>silver</a:t>
            </a:r>
            <a:r>
              <a:rPr lang="es-ES" dirty="0"/>
              <a:t>, se ha normalizado al máximo posible para garantizar la reutilización de esta capa no solo para los casos de uso actuales, sino para cualquier caso de uso o cualquier dato nuevo que necesite la empresa. </a:t>
            </a:r>
          </a:p>
        </p:txBody>
      </p:sp>
      <p:sp>
        <p:nvSpPr>
          <p:cNvPr id="4" name="Marcador de número de diapositiva 3">
            <a:extLst>
              <a:ext uri="{FF2B5EF4-FFF2-40B4-BE49-F238E27FC236}">
                <a16:creationId xmlns:a16="http://schemas.microsoft.com/office/drawing/2014/main" id="{BD47F2A6-D2C1-950C-1D52-4BC0DC8625AF}"/>
              </a:ext>
            </a:extLst>
          </p:cNvPr>
          <p:cNvSpPr>
            <a:spLocks noGrp="1"/>
          </p:cNvSpPr>
          <p:nvPr>
            <p:ph type="sldNum" sz="quarter" idx="5"/>
          </p:nvPr>
        </p:nvSpPr>
        <p:spPr/>
        <p:txBody>
          <a:bodyPr/>
          <a:lstStyle/>
          <a:p>
            <a:fld id="{0ADF327B-A70F-4C68-8FB2-BCFAD4782423}" type="slidenum">
              <a:rPr lang="es-ES" smtClean="0"/>
              <a:t>3</a:t>
            </a:fld>
            <a:endParaRPr lang="es-ES"/>
          </a:p>
        </p:txBody>
      </p:sp>
    </p:spTree>
    <p:extLst>
      <p:ext uri="{BB962C8B-B14F-4D97-AF65-F5344CB8AC3E}">
        <p14:creationId xmlns:p14="http://schemas.microsoft.com/office/powerpoint/2010/main" val="3017226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94215-7A45-8A2D-44F4-AD10F6E8FB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04617A-8DDA-6F4E-723C-0B5773FF56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E2F446-3260-72D6-ECDA-D9C426DD7352}"/>
              </a:ext>
            </a:extLst>
          </p:cNvPr>
          <p:cNvSpPr>
            <a:spLocks noGrp="1"/>
          </p:cNvSpPr>
          <p:nvPr>
            <p:ph type="body" idx="1"/>
          </p:nvPr>
        </p:nvSpPr>
        <p:spPr/>
        <p:txBody>
          <a:bodyPr/>
          <a:lstStyle/>
          <a:p>
            <a:r>
              <a:rPr lang="es-ES" dirty="0"/>
              <a:t>En cuanto al modelo dimensional está alojado en la capa </a:t>
            </a:r>
            <a:r>
              <a:rPr lang="es-ES" dirty="0" err="1"/>
              <a:t>gold</a:t>
            </a:r>
            <a:endParaRPr lang="es-ES" dirty="0"/>
          </a:p>
        </p:txBody>
      </p:sp>
      <p:sp>
        <p:nvSpPr>
          <p:cNvPr id="4" name="Marcador de número de diapositiva 3">
            <a:extLst>
              <a:ext uri="{FF2B5EF4-FFF2-40B4-BE49-F238E27FC236}">
                <a16:creationId xmlns:a16="http://schemas.microsoft.com/office/drawing/2014/main" id="{82B9989D-586B-8E28-860D-D667ADD6281C}"/>
              </a:ext>
            </a:extLst>
          </p:cNvPr>
          <p:cNvSpPr>
            <a:spLocks noGrp="1"/>
          </p:cNvSpPr>
          <p:nvPr>
            <p:ph type="sldNum" sz="quarter" idx="5"/>
          </p:nvPr>
        </p:nvSpPr>
        <p:spPr/>
        <p:txBody>
          <a:bodyPr/>
          <a:lstStyle/>
          <a:p>
            <a:fld id="{0ADF327B-A70F-4C68-8FB2-BCFAD4782423}" type="slidenum">
              <a:rPr lang="es-ES" smtClean="0"/>
              <a:t>4</a:t>
            </a:fld>
            <a:endParaRPr lang="es-ES"/>
          </a:p>
        </p:txBody>
      </p:sp>
    </p:spTree>
    <p:extLst>
      <p:ext uri="{BB962C8B-B14F-4D97-AF65-F5344CB8AC3E}">
        <p14:creationId xmlns:p14="http://schemas.microsoft.com/office/powerpoint/2010/main" val="2330872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A79DA-2225-A67E-6A7D-D97EDE2FD3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C0FEF8-38F4-B3D1-6875-721D04BD169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927488-A5B0-9842-0D7A-B7C8A29A1960}"/>
              </a:ext>
            </a:extLst>
          </p:cNvPr>
          <p:cNvSpPr>
            <a:spLocks noGrp="1"/>
          </p:cNvSpPr>
          <p:nvPr>
            <p:ph type="body" idx="1"/>
          </p:nvPr>
        </p:nvSpPr>
        <p:spPr/>
        <p:txBody>
          <a:bodyPr/>
          <a:lstStyle/>
          <a:p>
            <a:r>
              <a:rPr lang="es-ES" dirty="0"/>
              <a:t>Dos de las tablas son las tablas de hechos y en total hay seis dimensiones. </a:t>
            </a:r>
          </a:p>
        </p:txBody>
      </p:sp>
      <p:sp>
        <p:nvSpPr>
          <p:cNvPr id="4" name="Marcador de número de diapositiva 3">
            <a:extLst>
              <a:ext uri="{FF2B5EF4-FFF2-40B4-BE49-F238E27FC236}">
                <a16:creationId xmlns:a16="http://schemas.microsoft.com/office/drawing/2014/main" id="{D37BE8C4-3B96-B008-963F-8F88E0C25FFE}"/>
              </a:ext>
            </a:extLst>
          </p:cNvPr>
          <p:cNvSpPr>
            <a:spLocks noGrp="1"/>
          </p:cNvSpPr>
          <p:nvPr>
            <p:ph type="sldNum" sz="quarter" idx="5"/>
          </p:nvPr>
        </p:nvSpPr>
        <p:spPr/>
        <p:txBody>
          <a:bodyPr/>
          <a:lstStyle/>
          <a:p>
            <a:fld id="{0ADF327B-A70F-4C68-8FB2-BCFAD4782423}" type="slidenum">
              <a:rPr lang="es-ES" smtClean="0"/>
              <a:t>5</a:t>
            </a:fld>
            <a:endParaRPr lang="es-ES"/>
          </a:p>
        </p:txBody>
      </p:sp>
    </p:spTree>
    <p:extLst>
      <p:ext uri="{BB962C8B-B14F-4D97-AF65-F5344CB8AC3E}">
        <p14:creationId xmlns:p14="http://schemas.microsoft.com/office/powerpoint/2010/main" val="894801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F3A27-563D-2915-22F4-5C68799506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4352D3-99D2-602F-509D-E33F7BAE8F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DADAF18-097E-B775-3AB6-0083A6E4E99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4E95AAE-27F5-3B14-30F8-641A2CF1D177}"/>
              </a:ext>
            </a:extLst>
          </p:cNvPr>
          <p:cNvSpPr>
            <a:spLocks noGrp="1"/>
          </p:cNvSpPr>
          <p:nvPr>
            <p:ph type="sldNum" sz="quarter" idx="5"/>
          </p:nvPr>
        </p:nvSpPr>
        <p:spPr/>
        <p:txBody>
          <a:bodyPr/>
          <a:lstStyle/>
          <a:p>
            <a:fld id="{0ADF327B-A70F-4C68-8FB2-BCFAD4782423}" type="slidenum">
              <a:rPr lang="es-ES" smtClean="0"/>
              <a:t>6</a:t>
            </a:fld>
            <a:endParaRPr lang="es-ES"/>
          </a:p>
        </p:txBody>
      </p:sp>
    </p:spTree>
    <p:extLst>
      <p:ext uri="{BB962C8B-B14F-4D97-AF65-F5344CB8AC3E}">
        <p14:creationId xmlns:p14="http://schemas.microsoft.com/office/powerpoint/2010/main" val="1704465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647C4-234A-2652-FF48-0A147FD010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F642B9-6E0B-FBDF-16A6-B5863152CC8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FB1CC36-5244-970D-9BB6-FBF4BFF50E8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C91A496-89EA-B67C-7317-34EE72586329}"/>
              </a:ext>
            </a:extLst>
          </p:cNvPr>
          <p:cNvSpPr>
            <a:spLocks noGrp="1"/>
          </p:cNvSpPr>
          <p:nvPr>
            <p:ph type="sldNum" sz="quarter" idx="5"/>
          </p:nvPr>
        </p:nvSpPr>
        <p:spPr/>
        <p:txBody>
          <a:bodyPr/>
          <a:lstStyle/>
          <a:p>
            <a:fld id="{0ADF327B-A70F-4C68-8FB2-BCFAD4782423}" type="slidenum">
              <a:rPr lang="es-ES" smtClean="0"/>
              <a:t>7</a:t>
            </a:fld>
            <a:endParaRPr lang="es-ES"/>
          </a:p>
        </p:txBody>
      </p:sp>
    </p:spTree>
    <p:extLst>
      <p:ext uri="{BB962C8B-B14F-4D97-AF65-F5344CB8AC3E}">
        <p14:creationId xmlns:p14="http://schemas.microsoft.com/office/powerpoint/2010/main" val="2051532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3A4B-7BAA-08ED-45D9-1236E254F3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6782C2-59D3-E1B0-14AD-9655115A7C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D6601C-3FE3-8D53-4BA9-CC6D73C78FD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38DE51D-C1D9-0573-FA2E-9ACB3C4A68B3}"/>
              </a:ext>
            </a:extLst>
          </p:cNvPr>
          <p:cNvSpPr>
            <a:spLocks noGrp="1"/>
          </p:cNvSpPr>
          <p:nvPr>
            <p:ph type="sldNum" sz="quarter" idx="5"/>
          </p:nvPr>
        </p:nvSpPr>
        <p:spPr/>
        <p:txBody>
          <a:bodyPr/>
          <a:lstStyle/>
          <a:p>
            <a:fld id="{0ADF327B-A70F-4C68-8FB2-BCFAD4782423}" type="slidenum">
              <a:rPr lang="es-ES" smtClean="0"/>
              <a:t>8</a:t>
            </a:fld>
            <a:endParaRPr lang="es-ES"/>
          </a:p>
        </p:txBody>
      </p:sp>
    </p:spTree>
    <p:extLst>
      <p:ext uri="{BB962C8B-B14F-4D97-AF65-F5344CB8AC3E}">
        <p14:creationId xmlns:p14="http://schemas.microsoft.com/office/powerpoint/2010/main" val="618971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C4D9D-BCD0-05FC-3169-D2DBC9947E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66373C-3895-C868-EA33-C7FC9996E0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CBF4D1-7099-194D-B751-CFA75B26D9F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11D04A1-E146-0E89-C551-615551D61417}"/>
              </a:ext>
            </a:extLst>
          </p:cNvPr>
          <p:cNvSpPr>
            <a:spLocks noGrp="1"/>
          </p:cNvSpPr>
          <p:nvPr>
            <p:ph type="sldNum" sz="quarter" idx="5"/>
          </p:nvPr>
        </p:nvSpPr>
        <p:spPr/>
        <p:txBody>
          <a:bodyPr/>
          <a:lstStyle/>
          <a:p>
            <a:fld id="{0ADF327B-A70F-4C68-8FB2-BCFAD4782423}" type="slidenum">
              <a:rPr lang="es-ES" smtClean="0"/>
              <a:t>9</a:t>
            </a:fld>
            <a:endParaRPr lang="es-ES"/>
          </a:p>
        </p:txBody>
      </p:sp>
    </p:spTree>
    <p:extLst>
      <p:ext uri="{BB962C8B-B14F-4D97-AF65-F5344CB8AC3E}">
        <p14:creationId xmlns:p14="http://schemas.microsoft.com/office/powerpoint/2010/main" val="3409245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8095E-0DF2-B790-7ED7-3AB7F64FBE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34DAF6-B462-91AA-A344-53F1EE361D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9809E0-0A59-32AB-3E38-E84FB776B9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F79A017-7EA3-D657-3BDF-B42D4520A64E}"/>
              </a:ext>
            </a:extLst>
          </p:cNvPr>
          <p:cNvSpPr>
            <a:spLocks noGrp="1"/>
          </p:cNvSpPr>
          <p:nvPr>
            <p:ph type="sldNum" sz="quarter" idx="5"/>
          </p:nvPr>
        </p:nvSpPr>
        <p:spPr/>
        <p:txBody>
          <a:bodyPr/>
          <a:lstStyle/>
          <a:p>
            <a:fld id="{0ADF327B-A70F-4C68-8FB2-BCFAD4782423}" type="slidenum">
              <a:rPr lang="es-ES" smtClean="0"/>
              <a:t>10</a:t>
            </a:fld>
            <a:endParaRPr lang="es-ES"/>
          </a:p>
        </p:txBody>
      </p:sp>
    </p:spTree>
    <p:extLst>
      <p:ext uri="{BB962C8B-B14F-4D97-AF65-F5344CB8AC3E}">
        <p14:creationId xmlns:p14="http://schemas.microsoft.com/office/powerpoint/2010/main" val="3139641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A7527-47BA-F314-A4B8-33B0E8A5D8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86ABC9-4F85-D37A-1BF5-6543181A27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1DD54F-EEEA-4EC8-3D00-085DB22E5C3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6234342-9DB3-163B-EF78-E029A3821C99}"/>
              </a:ext>
            </a:extLst>
          </p:cNvPr>
          <p:cNvSpPr>
            <a:spLocks noGrp="1"/>
          </p:cNvSpPr>
          <p:nvPr>
            <p:ph type="sldNum" sz="quarter" idx="5"/>
          </p:nvPr>
        </p:nvSpPr>
        <p:spPr/>
        <p:txBody>
          <a:bodyPr/>
          <a:lstStyle/>
          <a:p>
            <a:fld id="{0ADF327B-A70F-4C68-8FB2-BCFAD4782423}" type="slidenum">
              <a:rPr lang="es-ES" smtClean="0"/>
              <a:t>11</a:t>
            </a:fld>
            <a:endParaRPr lang="es-ES"/>
          </a:p>
        </p:txBody>
      </p:sp>
    </p:spTree>
    <p:extLst>
      <p:ext uri="{BB962C8B-B14F-4D97-AF65-F5344CB8AC3E}">
        <p14:creationId xmlns:p14="http://schemas.microsoft.com/office/powerpoint/2010/main" val="1138104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ECAA-5B93-C836-A843-92946EEAD8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CB5D13-93E2-FF2C-4A13-D3A2A9129B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2B1B12-CC67-9950-780B-3874FE776B1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B57B214-BFB0-7984-3EBE-989373075E67}"/>
              </a:ext>
            </a:extLst>
          </p:cNvPr>
          <p:cNvSpPr>
            <a:spLocks noGrp="1"/>
          </p:cNvSpPr>
          <p:nvPr>
            <p:ph type="sldNum" sz="quarter" idx="5"/>
          </p:nvPr>
        </p:nvSpPr>
        <p:spPr/>
        <p:txBody>
          <a:bodyPr/>
          <a:lstStyle/>
          <a:p>
            <a:fld id="{0ADF327B-A70F-4C68-8FB2-BCFAD4782423}" type="slidenum">
              <a:rPr lang="es-ES" smtClean="0"/>
              <a:t>12</a:t>
            </a:fld>
            <a:endParaRPr lang="es-ES"/>
          </a:p>
        </p:txBody>
      </p:sp>
    </p:spTree>
    <p:extLst>
      <p:ext uri="{BB962C8B-B14F-4D97-AF65-F5344CB8AC3E}">
        <p14:creationId xmlns:p14="http://schemas.microsoft.com/office/powerpoint/2010/main" val="2712298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EA3A1B-FB00-82CE-EDC6-30EBA34595F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E69B8ABE-CB73-1F61-571C-A27A90939D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0076FFB-EBA0-B643-0E6D-7E5D49EF050F}"/>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5" name="Marcador de pie de página 4">
            <a:extLst>
              <a:ext uri="{FF2B5EF4-FFF2-40B4-BE49-F238E27FC236}">
                <a16:creationId xmlns:a16="http://schemas.microsoft.com/office/drawing/2014/main" id="{19120644-3E02-F740-FBC4-3C6650D11BC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7771B90-5C38-CA07-8504-C285B29C1E6F}"/>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392428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F33FEC-1FAD-CC1F-31D7-EFD6EAE5077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BB4D234-30C0-918E-96E8-7C6A503CB83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9EA7F10-B08D-AC8E-3121-4CCD6D360F60}"/>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5" name="Marcador de pie de página 4">
            <a:extLst>
              <a:ext uri="{FF2B5EF4-FFF2-40B4-BE49-F238E27FC236}">
                <a16:creationId xmlns:a16="http://schemas.microsoft.com/office/drawing/2014/main" id="{A6EFD529-55B0-8B68-B8E8-C2B06FEA13E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92419B8-67DD-F97E-B9BB-9B64724987F4}"/>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452189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A87DEF-73BA-8D7C-2DEC-6B9341EA9C5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B259FE-5105-39AC-8D26-375B4CC1BD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851C56C-0881-6B97-CF7B-1AF602EEEECC}"/>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5" name="Marcador de pie de página 4">
            <a:extLst>
              <a:ext uri="{FF2B5EF4-FFF2-40B4-BE49-F238E27FC236}">
                <a16:creationId xmlns:a16="http://schemas.microsoft.com/office/drawing/2014/main" id="{6BD7EDED-5599-F922-DE94-B703F82C985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A19B8FC-A551-81BF-3E18-96E9F574F8C8}"/>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463563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9238DB-7081-2D10-46A4-B73B58E3179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BDB4B91-4921-C215-D09E-4DEDDB40483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0F846994-86CF-21EC-5F50-739B75292F6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505A0311-E0F9-26B2-57DF-B4B4A9D96B63}"/>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6" name="Marcador de pie de página 5">
            <a:extLst>
              <a:ext uri="{FF2B5EF4-FFF2-40B4-BE49-F238E27FC236}">
                <a16:creationId xmlns:a16="http://schemas.microsoft.com/office/drawing/2014/main" id="{88D27A07-68BD-F254-0309-2BA75735CCB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12D59D0-EEA1-553E-F2B7-9A18DAF7B5D5}"/>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2397499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1E60B7-BD30-4F85-1A9E-49DA91ADBD3C}"/>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F236ACA-63C1-F16D-A7CA-569C1621E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5F4BECC-76F1-D009-CE07-C39F7FB50D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6D1B2DD-C7FB-D3C4-9B17-32B5526B85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BCC5AA4-25F0-697E-79F1-D2AEFA2540C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3120A2E-6B52-9160-A4B0-66E213CE8164}"/>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8" name="Marcador de pie de página 7">
            <a:extLst>
              <a:ext uri="{FF2B5EF4-FFF2-40B4-BE49-F238E27FC236}">
                <a16:creationId xmlns:a16="http://schemas.microsoft.com/office/drawing/2014/main" id="{6C3F7250-E995-A89C-8E68-4CCA92322C12}"/>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14709324-FE4D-4648-CA32-1571879581D7}"/>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4176628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F1BC82-B645-19A3-E0EA-940C12F4E75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42C4AB3-C99C-3739-B745-CC44A67818AE}"/>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4" name="Marcador de pie de página 3">
            <a:extLst>
              <a:ext uri="{FF2B5EF4-FFF2-40B4-BE49-F238E27FC236}">
                <a16:creationId xmlns:a16="http://schemas.microsoft.com/office/drawing/2014/main" id="{DA28D28F-E821-6AF2-8C75-957132985DB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0671B476-A9E7-3801-75BE-E68003AE64E6}"/>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1324161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F0AC1D7-E86C-D216-ED48-8C9FE56F90BA}"/>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3" name="Marcador de pie de página 2">
            <a:extLst>
              <a:ext uri="{FF2B5EF4-FFF2-40B4-BE49-F238E27FC236}">
                <a16:creationId xmlns:a16="http://schemas.microsoft.com/office/drawing/2014/main" id="{831A062D-12E6-D9E0-498F-A1BF2878574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D8E74C73-8B9D-0D9B-4873-F2CD987836C5}"/>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1851146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0D4B8-82F0-6949-FC7B-5DFC050AFC5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6C8356B-79C7-C19A-9C8E-7D310C4F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B9A3B6A0-3F95-AFDE-B914-2EEA8768E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2EE398A-5155-4FA1-61E2-019BB8F8146A}"/>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6" name="Marcador de pie de página 5">
            <a:extLst>
              <a:ext uri="{FF2B5EF4-FFF2-40B4-BE49-F238E27FC236}">
                <a16:creationId xmlns:a16="http://schemas.microsoft.com/office/drawing/2014/main" id="{3F68A0E2-0BEE-DC96-77C3-441A72DA4EA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BC4A3FF-FF6A-7F91-D407-B8503048F0DA}"/>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1995649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95DD1B-8C70-6EF1-5CEC-17A193A61DA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F5929EEC-F2A7-B8DC-4291-933F20BFEC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1071D036-1E64-B012-E897-BEDB11E2D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366DE52-3483-DBB0-1E79-0CB576C8EF02}"/>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6" name="Marcador de pie de página 5">
            <a:extLst>
              <a:ext uri="{FF2B5EF4-FFF2-40B4-BE49-F238E27FC236}">
                <a16:creationId xmlns:a16="http://schemas.microsoft.com/office/drawing/2014/main" id="{1AB95E4D-9E18-87CD-EA2F-AF7CE2DEE6A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B414A2B-45D7-9E3D-8DE3-D99753277C7B}"/>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2328353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71F973-5C3B-5A7E-F645-1F2D8BFC2F4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768B626-E434-3934-8E77-7329493FC1B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4D4A9F7-D77D-83E5-15BC-CDD772A8E2A5}"/>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5" name="Marcador de pie de página 4">
            <a:extLst>
              <a:ext uri="{FF2B5EF4-FFF2-40B4-BE49-F238E27FC236}">
                <a16:creationId xmlns:a16="http://schemas.microsoft.com/office/drawing/2014/main" id="{0F765AA3-E14E-AB72-C95E-6D6F1EB6AA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AC02C81-AF30-D9CF-E3D0-9E70ADCEFC06}"/>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2949103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336509C-61E6-641B-C014-0B1BDBC14B6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B9E0161-48DD-466B-FDA5-E21749EAEA7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0842B45-9AFB-E0AD-8E42-D7D7D47B1C29}"/>
              </a:ext>
            </a:extLst>
          </p:cNvPr>
          <p:cNvSpPr>
            <a:spLocks noGrp="1"/>
          </p:cNvSpPr>
          <p:nvPr>
            <p:ph type="dt" sz="half" idx="10"/>
          </p:nvPr>
        </p:nvSpPr>
        <p:spPr/>
        <p:txBody>
          <a:bodyPr/>
          <a:lstStyle/>
          <a:p>
            <a:fld id="{7037F59C-C219-4B4B-BDEC-483CB43E4B34}" type="datetimeFigureOut">
              <a:rPr lang="es-ES" smtClean="0"/>
              <a:t>21/05/2026</a:t>
            </a:fld>
            <a:endParaRPr lang="es-ES"/>
          </a:p>
        </p:txBody>
      </p:sp>
      <p:sp>
        <p:nvSpPr>
          <p:cNvPr id="5" name="Marcador de pie de página 4">
            <a:extLst>
              <a:ext uri="{FF2B5EF4-FFF2-40B4-BE49-F238E27FC236}">
                <a16:creationId xmlns:a16="http://schemas.microsoft.com/office/drawing/2014/main" id="{FF6CEB6A-BE76-C50A-4899-6FF2C248FDA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9DF1ACE-70D1-C10F-B418-FEBEF787968D}"/>
              </a:ext>
            </a:extLst>
          </p:cNvPr>
          <p:cNvSpPr>
            <a:spLocks noGrp="1"/>
          </p:cNvSpPr>
          <p:nvPr>
            <p:ph type="sldNum" sz="quarter" idx="12"/>
          </p:nvPr>
        </p:nvSpPr>
        <p:spPr/>
        <p:txBody>
          <a:bodyPr/>
          <a:lstStyle/>
          <a:p>
            <a:fld id="{2453A48C-6FC6-4B22-BE56-7BDA142B5315}" type="slidenum">
              <a:rPr lang="es-ES" smtClean="0"/>
              <a:t>‹Nº›</a:t>
            </a:fld>
            <a:endParaRPr lang="es-ES"/>
          </a:p>
        </p:txBody>
      </p:sp>
    </p:spTree>
    <p:extLst>
      <p:ext uri="{BB962C8B-B14F-4D97-AF65-F5344CB8AC3E}">
        <p14:creationId xmlns:p14="http://schemas.microsoft.com/office/powerpoint/2010/main" val="753433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F66567E-DFE5-1D7D-0851-B69D878DA7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6F8BC494-2B60-3300-F06B-F2DE7ADE77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4ED6BB5-E094-EE0D-7ED0-4F46BF1EE9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37F59C-C219-4B4B-BDEC-483CB43E4B34}" type="datetimeFigureOut">
              <a:rPr lang="es-ES" smtClean="0"/>
              <a:t>21/05/2026</a:t>
            </a:fld>
            <a:endParaRPr lang="es-ES"/>
          </a:p>
        </p:txBody>
      </p:sp>
      <p:sp>
        <p:nvSpPr>
          <p:cNvPr id="5" name="Marcador de pie de página 4">
            <a:extLst>
              <a:ext uri="{FF2B5EF4-FFF2-40B4-BE49-F238E27FC236}">
                <a16:creationId xmlns:a16="http://schemas.microsoft.com/office/drawing/2014/main" id="{9DF1E2E3-4BAE-AF1E-6BE3-B6BCEAE997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4E34A46B-1956-FDBD-B4EF-A15F1104D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3A48C-6FC6-4B22-BE56-7BDA142B5315}" type="slidenum">
              <a:rPr lang="es-ES" smtClean="0"/>
              <a:t>‹Nº›</a:t>
            </a:fld>
            <a:endParaRPr lang="es-ES"/>
          </a:p>
        </p:txBody>
      </p:sp>
    </p:spTree>
    <p:extLst>
      <p:ext uri="{BB962C8B-B14F-4D97-AF65-F5344CB8AC3E}">
        <p14:creationId xmlns:p14="http://schemas.microsoft.com/office/powerpoint/2010/main" val="245851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5.png"/><Relationship Id="rId12"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1.png"/><Relationship Id="rId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27B8E5-F081-0AB1-ADA0-CDECC48B02CC}"/>
              </a:ext>
            </a:extLst>
          </p:cNvPr>
          <p:cNvSpPr>
            <a:spLocks noGrp="1"/>
          </p:cNvSpPr>
          <p:nvPr>
            <p:ph type="ctrTitle"/>
          </p:nvPr>
        </p:nvSpPr>
        <p:spPr>
          <a:xfrm>
            <a:off x="1679377" y="2321030"/>
            <a:ext cx="8833245" cy="2069079"/>
          </a:xfrm>
          <a:noFill/>
          <a:ln>
            <a:noFill/>
          </a:ln>
        </p:spPr>
        <p:txBody>
          <a:bodyPr>
            <a:normAutofit fontScale="90000"/>
          </a:bodyPr>
          <a:lstStyle/>
          <a:p>
            <a:br>
              <a:rPr lang="es-ES" sz="53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br>
            <a:r>
              <a:rPr lang="es-ES" sz="53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De Bronze a Gold: </a:t>
            </a:r>
            <a:br>
              <a:rPr lang="es-ES" sz="53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br>
            <a:r>
              <a:rPr lang="es-ES" sz="53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Pipeline de Datos en la Industria Farmacéutica</a:t>
            </a:r>
          </a:p>
        </p:txBody>
      </p:sp>
      <p:sp>
        <p:nvSpPr>
          <p:cNvPr id="3" name="Subtítulo 2">
            <a:extLst>
              <a:ext uri="{FF2B5EF4-FFF2-40B4-BE49-F238E27FC236}">
                <a16:creationId xmlns:a16="http://schemas.microsoft.com/office/drawing/2014/main" id="{653EAAB4-0396-F172-E9D9-D882D7086E1D}"/>
              </a:ext>
            </a:extLst>
          </p:cNvPr>
          <p:cNvSpPr>
            <a:spLocks noGrp="1"/>
          </p:cNvSpPr>
          <p:nvPr>
            <p:ph type="subTitle" idx="1"/>
          </p:nvPr>
        </p:nvSpPr>
        <p:spPr>
          <a:xfrm>
            <a:off x="4261104" y="5150323"/>
            <a:ext cx="3669792" cy="641894"/>
          </a:xfrm>
        </p:spPr>
        <p:txBody>
          <a:bodyPr>
            <a:normAutofit/>
          </a:bodyPr>
          <a:lstStyle/>
          <a:p>
            <a:r>
              <a:rPr lang="es-ES" sz="32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Celia Pérez Díaz</a:t>
            </a:r>
          </a:p>
        </p:txBody>
      </p:sp>
      <p:pic>
        <p:nvPicPr>
          <p:cNvPr id="1026" name="Picture 2" descr="Diseño y desarrollo de soluciones tecnológicas, datos e IA | Cívica">
            <a:extLst>
              <a:ext uri="{FF2B5EF4-FFF2-40B4-BE49-F238E27FC236}">
                <a16:creationId xmlns:a16="http://schemas.microsoft.com/office/drawing/2014/main" id="{0E59D07F-398D-D931-39FC-BB75F2B1D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18" y="506061"/>
            <a:ext cx="3074943" cy="1398939"/>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descr="INNOVATION FOR BETTER HEALTH&#10;&#10;El contenido generado por IA puede ser incorrecto.">
            <a:extLst>
              <a:ext uri="{FF2B5EF4-FFF2-40B4-BE49-F238E27FC236}">
                <a16:creationId xmlns:a16="http://schemas.microsoft.com/office/drawing/2014/main" id="{01CDC022-04CC-1F56-8DFB-84E2E55974DD}"/>
              </a:ext>
            </a:extLst>
          </p:cNvPr>
          <p:cNvPicPr>
            <a:picLocks noChangeAspect="1"/>
          </p:cNvPicPr>
          <p:nvPr/>
        </p:nvPicPr>
        <p:blipFill>
          <a:blip r:embed="rId4">
            <a:extLst>
              <a:ext uri="{28A0092B-C50C-407E-A947-70E740481C1C}">
                <a14:useLocalDpi xmlns:a14="http://schemas.microsoft.com/office/drawing/2010/main" val="0"/>
              </a:ext>
            </a:extLst>
          </a:blip>
          <a:srcRect l="17191" t="15214" r="17335" b="17724"/>
          <a:stretch>
            <a:fillRect/>
          </a:stretch>
        </p:blipFill>
        <p:spPr>
          <a:xfrm>
            <a:off x="9631741" y="506061"/>
            <a:ext cx="2272864" cy="1552000"/>
          </a:xfrm>
          <a:prstGeom prst="rect">
            <a:avLst/>
          </a:prstGeom>
        </p:spPr>
      </p:pic>
      <p:grpSp>
        <p:nvGrpSpPr>
          <p:cNvPr id="14" name="Grupo 13">
            <a:extLst>
              <a:ext uri="{FF2B5EF4-FFF2-40B4-BE49-F238E27FC236}">
                <a16:creationId xmlns:a16="http://schemas.microsoft.com/office/drawing/2014/main" id="{FE59A3DC-E04C-D699-8879-4B6D774C5D2D}"/>
              </a:ext>
            </a:extLst>
          </p:cNvPr>
          <p:cNvGrpSpPr/>
          <p:nvPr/>
        </p:nvGrpSpPr>
        <p:grpSpPr>
          <a:xfrm>
            <a:off x="-1742214" y="4349223"/>
            <a:ext cx="4014357" cy="3998124"/>
            <a:chOff x="-1742214" y="4349223"/>
            <a:chExt cx="4014357" cy="3998124"/>
          </a:xfrm>
          <a:gradFill>
            <a:gsLst>
              <a:gs pos="0">
                <a:srgbClr val="EA5341"/>
              </a:gs>
              <a:gs pos="74000">
                <a:srgbClr val="EE890E"/>
              </a:gs>
              <a:gs pos="100000">
                <a:srgbClr val="EE890E"/>
              </a:gs>
            </a:gsLst>
            <a:lin ang="5400000" scaled="1"/>
          </a:gradFill>
        </p:grpSpPr>
        <p:sp>
          <p:nvSpPr>
            <p:cNvPr id="9" name="Elipse 8">
              <a:extLst>
                <a:ext uri="{FF2B5EF4-FFF2-40B4-BE49-F238E27FC236}">
                  <a16:creationId xmlns:a16="http://schemas.microsoft.com/office/drawing/2014/main" id="{82C192CE-D260-917B-81E8-B7B854B6F943}"/>
                </a:ext>
              </a:extLst>
            </p:cNvPr>
            <p:cNvSpPr/>
            <p:nvPr/>
          </p:nvSpPr>
          <p:spPr>
            <a:xfrm>
              <a:off x="-1742214" y="4349223"/>
              <a:ext cx="2565400" cy="259667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0888BC04-0664-CA7A-8F8D-976E594895FB}"/>
                </a:ext>
              </a:extLst>
            </p:cNvPr>
            <p:cNvSpPr/>
            <p:nvPr/>
          </p:nvSpPr>
          <p:spPr>
            <a:xfrm>
              <a:off x="-293257" y="5750670"/>
              <a:ext cx="2565400" cy="259667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13" name="Grupo 12">
            <a:extLst>
              <a:ext uri="{FF2B5EF4-FFF2-40B4-BE49-F238E27FC236}">
                <a16:creationId xmlns:a16="http://schemas.microsoft.com/office/drawing/2014/main" id="{94CF3299-771D-FF45-6114-69DE56C09B05}"/>
              </a:ext>
            </a:extLst>
          </p:cNvPr>
          <p:cNvGrpSpPr/>
          <p:nvPr/>
        </p:nvGrpSpPr>
        <p:grpSpPr>
          <a:xfrm>
            <a:off x="9753600" y="4812300"/>
            <a:ext cx="3698522" cy="3713232"/>
            <a:chOff x="9626600" y="5053600"/>
            <a:chExt cx="3698522" cy="3713232"/>
          </a:xfrm>
          <a:gradFill>
            <a:gsLst>
              <a:gs pos="0">
                <a:srgbClr val="EE890E"/>
              </a:gs>
              <a:gs pos="74000">
                <a:srgbClr val="FF5E03"/>
              </a:gs>
              <a:gs pos="100000">
                <a:srgbClr val="FF5E03"/>
              </a:gs>
            </a:gsLst>
            <a:lin ang="5400000" scaled="1"/>
          </a:gradFill>
        </p:grpSpPr>
        <p:sp>
          <p:nvSpPr>
            <p:cNvPr id="10" name="Elipse 9">
              <a:extLst>
                <a:ext uri="{FF2B5EF4-FFF2-40B4-BE49-F238E27FC236}">
                  <a16:creationId xmlns:a16="http://schemas.microsoft.com/office/drawing/2014/main" id="{EDBF16C2-8880-E816-F31D-7C5B6DCEFA73}"/>
                </a:ext>
              </a:extLst>
            </p:cNvPr>
            <p:cNvSpPr/>
            <p:nvPr/>
          </p:nvSpPr>
          <p:spPr>
            <a:xfrm>
              <a:off x="10759722" y="5053600"/>
              <a:ext cx="2565400" cy="259667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D0CA4742-8FC5-3E91-665D-DBBF99703D02}"/>
                </a:ext>
              </a:extLst>
            </p:cNvPr>
            <p:cNvSpPr/>
            <p:nvPr/>
          </p:nvSpPr>
          <p:spPr>
            <a:xfrm>
              <a:off x="9626600" y="6170155"/>
              <a:ext cx="2565400" cy="259667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458235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NNOVATION FOR BETTER HEALTH&#10;&#10;El contenido generado por IA puede ser incorrecto.">
            <a:extLst>
              <a:ext uri="{FF2B5EF4-FFF2-40B4-BE49-F238E27FC236}">
                <a16:creationId xmlns:a16="http://schemas.microsoft.com/office/drawing/2014/main" id="{D99972E3-038D-1F68-B3DD-52D964490F52}"/>
              </a:ext>
            </a:extLst>
          </p:cNvPr>
          <p:cNvPicPr>
            <a:picLocks noChangeAspect="1"/>
          </p:cNvPicPr>
          <p:nvPr/>
        </p:nvPicPr>
        <p:blipFill>
          <a:blip r:embed="rId3">
            <a:extLst>
              <a:ext uri="{28A0092B-C50C-407E-A947-70E740481C1C}">
                <a14:useLocalDpi xmlns:a14="http://schemas.microsoft.com/office/drawing/2010/main" val="0"/>
              </a:ext>
            </a:extLst>
          </a:blip>
          <a:srcRect l="17191" t="15214" r="17335" b="17724"/>
          <a:stretch>
            <a:fillRect/>
          </a:stretch>
        </p:blipFill>
        <p:spPr>
          <a:xfrm>
            <a:off x="7915612" y="299722"/>
            <a:ext cx="3975418" cy="2714570"/>
          </a:xfrm>
          <a:prstGeom prst="rect">
            <a:avLst/>
          </a:prstGeom>
        </p:spPr>
      </p:pic>
      <p:sp>
        <p:nvSpPr>
          <p:cNvPr id="5" name="Título 1">
            <a:extLst>
              <a:ext uri="{FF2B5EF4-FFF2-40B4-BE49-F238E27FC236}">
                <a16:creationId xmlns:a16="http://schemas.microsoft.com/office/drawing/2014/main" id="{BA9AA76A-32F7-2341-15A0-E6A2D5E731EF}"/>
              </a:ext>
            </a:extLst>
          </p:cNvPr>
          <p:cNvSpPr txBox="1">
            <a:spLocks/>
          </p:cNvSpPr>
          <p:nvPr/>
        </p:nvSpPr>
        <p:spPr>
          <a:xfrm>
            <a:off x="484070" y="837519"/>
            <a:ext cx="7123132" cy="3595321"/>
          </a:xfrm>
          <a:prstGeom prst="rect">
            <a:avLst/>
          </a:prstGeom>
          <a:no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just">
              <a:lnSpc>
                <a:spcPct val="150000"/>
              </a:lnSpc>
              <a:buFont typeface="Arial" panose="020B0604020202020204" pitchFamily="34" charset="0"/>
              <a:buChar char="•"/>
            </a:pPr>
            <a:r>
              <a:rPr lang="es-ES" sz="21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Empresa farmacéutica con sede en Alemania</a:t>
            </a:r>
          </a:p>
          <a:p>
            <a:pPr marL="342900" indent="-342900" algn="just">
              <a:lnSpc>
                <a:spcPct val="150000"/>
              </a:lnSpc>
              <a:buFont typeface="Arial" panose="020B0604020202020204" pitchFamily="34" charset="0"/>
              <a:buChar char="•"/>
            </a:pPr>
            <a:r>
              <a:rPr lang="es-ES" sz="21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Distribución y venta de medicamentos a Alemania y Polonia</a:t>
            </a:r>
          </a:p>
          <a:p>
            <a:pPr marL="342900" indent="-342900" algn="just">
              <a:lnSpc>
                <a:spcPct val="150000"/>
              </a:lnSpc>
              <a:buFont typeface="Arial" panose="020B0604020202020204" pitchFamily="34" charset="0"/>
              <a:buChar char="•"/>
            </a:pPr>
            <a:r>
              <a:rPr lang="es-ES" sz="21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Farmacias y hospitales</a:t>
            </a:r>
          </a:p>
          <a:p>
            <a:pPr marL="342900" indent="-342900" algn="just">
              <a:lnSpc>
                <a:spcPct val="150000"/>
              </a:lnSpc>
              <a:buFont typeface="Arial" panose="020B0604020202020204" pitchFamily="34" charset="0"/>
              <a:buChar char="•"/>
            </a:pPr>
            <a:r>
              <a:rPr lang="es-ES" sz="21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240 productos de 6 clases diferentes</a:t>
            </a:r>
          </a:p>
          <a:p>
            <a:pPr marL="342900" indent="-342900" algn="just">
              <a:lnSpc>
                <a:spcPct val="150000"/>
              </a:lnSpc>
              <a:buFont typeface="Arial" panose="020B0604020202020204" pitchFamily="34" charset="0"/>
              <a:buChar char="•"/>
            </a:pPr>
            <a:r>
              <a:rPr lang="es-ES" sz="2100" noProof="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4 equipos de ventas: Alfa, Bravo, Charlie y Delta</a:t>
            </a:r>
          </a:p>
          <a:p>
            <a:pPr marL="342900" indent="-342900" algn="just">
              <a:lnSpc>
                <a:spcPct val="150000"/>
              </a:lnSpc>
              <a:buFont typeface="Arial" panose="020B0604020202020204" pitchFamily="34" charset="0"/>
              <a:buChar char="•"/>
            </a:pPr>
            <a:r>
              <a:rPr lang="es-ES" sz="2100"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Gran volumen de datos </a:t>
            </a:r>
            <a:r>
              <a:rPr lang="es-ES" sz="2100" dirty="0" err="1">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comerciales</a:t>
            </a:r>
            <a:r>
              <a:rPr lang="es-ES" sz="100" dirty="0" err="1">
                <a:solidFill>
                  <a:srgbClr val="EA5341"/>
                </a:solidFill>
                <a:latin typeface="Times New Roman" panose="02020603050405020304" pitchFamily="18" charset="0"/>
                <a:ea typeface="Microsoft GothicNeo Light" panose="020B0503020000020004" pitchFamily="34" charset="-127"/>
                <a:cs typeface="Times New Roman" panose="02020603050405020304" pitchFamily="18" charset="0"/>
              </a:rPr>
              <a:t>de</a:t>
            </a:r>
            <a:endParaRPr lang="es-ES" sz="100" dirty="0">
              <a:solidFill>
                <a:srgbClr val="EA5341"/>
              </a:solidFill>
              <a:latin typeface="Times New Roman" panose="02020603050405020304" pitchFamily="18" charset="0"/>
              <a:ea typeface="Microsoft GothicNeo Light" panose="020B0503020000020004" pitchFamily="34" charset="-127"/>
              <a:cs typeface="Times New Roman" panose="02020603050405020304" pitchFamily="18" charset="0"/>
            </a:endParaRPr>
          </a:p>
        </p:txBody>
      </p:sp>
      <p:pic>
        <p:nvPicPr>
          <p:cNvPr id="2050" name="Picture 2" descr="Frontera entre Alemania y Polonia - Wikipedia, la ...">
            <a:extLst>
              <a:ext uri="{FF2B5EF4-FFF2-40B4-BE49-F238E27FC236}">
                <a16:creationId xmlns:a16="http://schemas.microsoft.com/office/drawing/2014/main" id="{0F178637-1CB2-4262-0B98-5F9494F69C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8564" r="35058"/>
          <a:stretch>
            <a:fillRect/>
          </a:stretch>
        </p:blipFill>
        <p:spPr bwMode="auto">
          <a:xfrm>
            <a:off x="7915612" y="3554133"/>
            <a:ext cx="3975418" cy="313404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6FDEECB6-827C-78A8-245B-08F7ED4B7506}"/>
              </a:ext>
            </a:extLst>
          </p:cNvPr>
          <p:cNvSpPr txBox="1">
            <a:spLocks/>
          </p:cNvSpPr>
          <p:nvPr/>
        </p:nvSpPr>
        <p:spPr>
          <a:xfrm>
            <a:off x="175660" y="-352854"/>
            <a:ext cx="773995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Origen y estructura de los datos</a:t>
            </a:r>
          </a:p>
        </p:txBody>
      </p:sp>
      <p:pic>
        <p:nvPicPr>
          <p:cNvPr id="1026" name="Picture 2" descr="Archivo csv - Iconos gratis de interfaz">
            <a:extLst>
              <a:ext uri="{FF2B5EF4-FFF2-40B4-BE49-F238E27FC236}">
                <a16:creationId xmlns:a16="http://schemas.microsoft.com/office/drawing/2014/main" id="{02BC3C31-6928-193E-593A-198F955F98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4117" y="4844006"/>
            <a:ext cx="1086217" cy="108621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rchivo csv - Iconos gratis de interfaz">
            <a:extLst>
              <a:ext uri="{FF2B5EF4-FFF2-40B4-BE49-F238E27FC236}">
                <a16:creationId xmlns:a16="http://schemas.microsoft.com/office/drawing/2014/main" id="{DF630643-B56D-151A-C51F-E3AE990CEC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3248" y="5121155"/>
            <a:ext cx="1086217" cy="108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708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944BC-70D2-0D96-C91D-F8C64E8D1C2F}"/>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614104DC-283B-ECDA-34B8-EB90ACA4C014}"/>
              </a:ext>
            </a:extLst>
          </p:cNvPr>
          <p:cNvSpPr txBox="1">
            <a:spLocks/>
          </p:cNvSpPr>
          <p:nvPr/>
        </p:nvSpPr>
        <p:spPr>
          <a:xfrm>
            <a:off x="175660" y="-352854"/>
            <a:ext cx="532333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Modelo relacional</a:t>
            </a:r>
          </a:p>
        </p:txBody>
      </p:sp>
      <p:pic>
        <p:nvPicPr>
          <p:cNvPr id="3" name="Imagen 2" descr="The image is a complex data diagram, showing various relationships and attributes among entities such as products, classes, representatives, sales, clients, cities, and countries, including attributes like IDs, names, dates, prices, and other data types.&#10;&#10;El contenido generado por IA puede ser incorrecto.">
            <a:extLst>
              <a:ext uri="{FF2B5EF4-FFF2-40B4-BE49-F238E27FC236}">
                <a16:creationId xmlns:a16="http://schemas.microsoft.com/office/drawing/2014/main" id="{BA8BC08F-8E58-E387-F827-4F136DAD2338}"/>
              </a:ext>
            </a:extLst>
          </p:cNvPr>
          <p:cNvPicPr>
            <a:picLocks noChangeAspect="1"/>
          </p:cNvPicPr>
          <p:nvPr/>
        </p:nvPicPr>
        <p:blipFill>
          <a:blip r:embed="rId3"/>
          <a:stretch>
            <a:fillRect/>
          </a:stretch>
        </p:blipFill>
        <p:spPr>
          <a:xfrm>
            <a:off x="419032" y="1149235"/>
            <a:ext cx="11353935" cy="5213465"/>
          </a:xfrm>
          <a:prstGeom prst="rect">
            <a:avLst/>
          </a:prstGeom>
        </p:spPr>
      </p:pic>
      <p:pic>
        <p:nvPicPr>
          <p:cNvPr id="17" name="Imagen 16" descr="INNOVATION FOR BETTER HEALTH&#10;&#10;El contenido generado por IA puede ser incorrecto.">
            <a:extLst>
              <a:ext uri="{FF2B5EF4-FFF2-40B4-BE49-F238E27FC236}">
                <a16:creationId xmlns:a16="http://schemas.microsoft.com/office/drawing/2014/main" id="{39C4D801-C2BB-24B1-F395-52D8191C8536}"/>
              </a:ext>
            </a:extLst>
          </p:cNvPr>
          <p:cNvPicPr>
            <a:picLocks noChangeAspect="1"/>
          </p:cNvPicPr>
          <p:nvPr/>
        </p:nvPicPr>
        <p:blipFill>
          <a:blip r:embed="rId4">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spTree>
    <p:extLst>
      <p:ext uri="{BB962C8B-B14F-4D97-AF65-F5344CB8AC3E}">
        <p14:creationId xmlns:p14="http://schemas.microsoft.com/office/powerpoint/2010/main" val="3121527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F35E-94B9-0DE5-9B79-83F62BFD601A}"/>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993D7B39-F505-3850-4022-DC8895E7ED3F}"/>
              </a:ext>
            </a:extLst>
          </p:cNvPr>
          <p:cNvSpPr txBox="1">
            <a:spLocks/>
          </p:cNvSpPr>
          <p:nvPr/>
        </p:nvSpPr>
        <p:spPr>
          <a:xfrm>
            <a:off x="175660" y="-352854"/>
            <a:ext cx="532333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Modelo dimensional</a:t>
            </a:r>
          </a:p>
        </p:txBody>
      </p:sp>
      <p:pic>
        <p:nvPicPr>
          <p:cNvPr id="3" name="Imagen 2" descr="The image appears to be a complex data diagram or graph showing various interconnected attributes such as product IDs, prices, sales, and customer information, possibly for an e-commerce or sales management system.&#10;&#10;El contenido generado por IA puede ser incorrecto.">
            <a:extLst>
              <a:ext uri="{FF2B5EF4-FFF2-40B4-BE49-F238E27FC236}">
                <a16:creationId xmlns:a16="http://schemas.microsoft.com/office/drawing/2014/main" id="{8100CA36-0A4E-2F0E-03EC-830F88A4C876}"/>
              </a:ext>
            </a:extLst>
          </p:cNvPr>
          <p:cNvPicPr>
            <a:picLocks noChangeAspect="1"/>
          </p:cNvPicPr>
          <p:nvPr/>
        </p:nvPicPr>
        <p:blipFill>
          <a:blip r:embed="rId3"/>
          <a:stretch>
            <a:fillRect/>
          </a:stretch>
        </p:blipFill>
        <p:spPr>
          <a:xfrm>
            <a:off x="1038225" y="958726"/>
            <a:ext cx="9876887" cy="5733004"/>
          </a:xfrm>
          <a:prstGeom prst="rect">
            <a:avLst/>
          </a:prstGeom>
        </p:spPr>
      </p:pic>
      <p:pic>
        <p:nvPicPr>
          <p:cNvPr id="17" name="Imagen 16" descr="INNOVATION FOR BETTER HEALTH&#10;&#10;El contenido generado por IA puede ser incorrecto.">
            <a:extLst>
              <a:ext uri="{FF2B5EF4-FFF2-40B4-BE49-F238E27FC236}">
                <a16:creationId xmlns:a16="http://schemas.microsoft.com/office/drawing/2014/main" id="{DD4F3306-A038-2086-ED51-D05C5586454F}"/>
              </a:ext>
            </a:extLst>
          </p:cNvPr>
          <p:cNvPicPr>
            <a:picLocks noChangeAspect="1"/>
          </p:cNvPicPr>
          <p:nvPr/>
        </p:nvPicPr>
        <p:blipFill>
          <a:blip r:embed="rId4">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spTree>
    <p:extLst>
      <p:ext uri="{BB962C8B-B14F-4D97-AF65-F5344CB8AC3E}">
        <p14:creationId xmlns:p14="http://schemas.microsoft.com/office/powerpoint/2010/main" val="855390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4A1B8-F45C-25F5-3D7F-AFA349CC1C93}"/>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DEE99377-23E2-AFAC-9959-C3F1AB1512B7}"/>
              </a:ext>
            </a:extLst>
          </p:cNvPr>
          <p:cNvSpPr txBox="1">
            <a:spLocks/>
          </p:cNvSpPr>
          <p:nvPr/>
        </p:nvSpPr>
        <p:spPr>
          <a:xfrm>
            <a:off x="175660" y="-352854"/>
            <a:ext cx="532333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Modelo dimensional</a:t>
            </a:r>
          </a:p>
        </p:txBody>
      </p:sp>
      <p:pic>
        <p:nvPicPr>
          <p:cNvPr id="3" name="Imagen 2" descr="The image appears to be a complex data diagram or graph showing various interconnected attributes such as product IDs, prices, sales, and customer information, possibly for an e-commerce or sales management system.&#10;&#10;El contenido generado por IA puede ser incorrecto.">
            <a:extLst>
              <a:ext uri="{FF2B5EF4-FFF2-40B4-BE49-F238E27FC236}">
                <a16:creationId xmlns:a16="http://schemas.microsoft.com/office/drawing/2014/main" id="{8B210059-5D80-E9FA-D425-14D729CEF134}"/>
              </a:ext>
            </a:extLst>
          </p:cNvPr>
          <p:cNvPicPr>
            <a:picLocks noChangeAspect="1"/>
          </p:cNvPicPr>
          <p:nvPr/>
        </p:nvPicPr>
        <p:blipFill>
          <a:blip r:embed="rId3"/>
          <a:stretch>
            <a:fillRect/>
          </a:stretch>
        </p:blipFill>
        <p:spPr>
          <a:xfrm>
            <a:off x="1038225" y="958726"/>
            <a:ext cx="9876887" cy="5733004"/>
          </a:xfrm>
          <a:prstGeom prst="rect">
            <a:avLst/>
          </a:prstGeom>
        </p:spPr>
      </p:pic>
      <p:pic>
        <p:nvPicPr>
          <p:cNvPr id="17" name="Imagen 16" descr="INNOVATION FOR BETTER HEALTH&#10;&#10;El contenido generado por IA puede ser incorrecto.">
            <a:extLst>
              <a:ext uri="{FF2B5EF4-FFF2-40B4-BE49-F238E27FC236}">
                <a16:creationId xmlns:a16="http://schemas.microsoft.com/office/drawing/2014/main" id="{F3D1944A-A054-36AC-B321-E7A3767ED06B}"/>
              </a:ext>
            </a:extLst>
          </p:cNvPr>
          <p:cNvPicPr>
            <a:picLocks noChangeAspect="1"/>
          </p:cNvPicPr>
          <p:nvPr/>
        </p:nvPicPr>
        <p:blipFill>
          <a:blip r:embed="rId4">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sp>
        <p:nvSpPr>
          <p:cNvPr id="5" name="Rectángulo 4">
            <a:extLst>
              <a:ext uri="{FF2B5EF4-FFF2-40B4-BE49-F238E27FC236}">
                <a16:creationId xmlns:a16="http://schemas.microsoft.com/office/drawing/2014/main" id="{8EE629F0-E1A1-4A8D-3B1F-804E7EBAFB7E}"/>
              </a:ext>
            </a:extLst>
          </p:cNvPr>
          <p:cNvSpPr/>
          <p:nvPr/>
        </p:nvSpPr>
        <p:spPr>
          <a:xfrm>
            <a:off x="3103418" y="2004291"/>
            <a:ext cx="2004291" cy="3491345"/>
          </a:xfrm>
          <a:prstGeom prst="rect">
            <a:avLst/>
          </a:prstGeom>
          <a:noFill/>
          <a:ln>
            <a:solidFill>
              <a:srgbClr val="EA53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F42A9E75-64F9-1AAF-1B05-35ABC4BDABD0}"/>
              </a:ext>
            </a:extLst>
          </p:cNvPr>
          <p:cNvSpPr/>
          <p:nvPr/>
        </p:nvSpPr>
        <p:spPr>
          <a:xfrm>
            <a:off x="8612909" y="3429001"/>
            <a:ext cx="2004291" cy="2066636"/>
          </a:xfrm>
          <a:prstGeom prst="rect">
            <a:avLst/>
          </a:prstGeom>
          <a:noFill/>
          <a:ln>
            <a:solidFill>
              <a:srgbClr val="EA53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349571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92F0-DE8B-D8C1-EDAA-3394C16109D2}"/>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9FF5CA23-49EF-C377-A585-4FD284DC5B70}"/>
              </a:ext>
            </a:extLst>
          </p:cNvPr>
          <p:cNvSpPr txBox="1">
            <a:spLocks/>
          </p:cNvSpPr>
          <p:nvPr/>
        </p:nvSpPr>
        <p:spPr>
          <a:xfrm>
            <a:off x="175660" y="-352854"/>
            <a:ext cx="532333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Modelo dimensional</a:t>
            </a:r>
          </a:p>
        </p:txBody>
      </p:sp>
      <p:pic>
        <p:nvPicPr>
          <p:cNvPr id="3" name="Imagen 2" descr="The image appears to be a complex data diagram or graph showing various interconnected attributes such as product IDs, prices, sales, and customer information, possibly for an e-commerce or sales management system.&#10;&#10;El contenido generado por IA puede ser incorrecto.">
            <a:extLst>
              <a:ext uri="{FF2B5EF4-FFF2-40B4-BE49-F238E27FC236}">
                <a16:creationId xmlns:a16="http://schemas.microsoft.com/office/drawing/2014/main" id="{07F9E16B-E031-BAC4-DE48-1604AE6FEE4F}"/>
              </a:ext>
            </a:extLst>
          </p:cNvPr>
          <p:cNvPicPr>
            <a:picLocks noChangeAspect="1"/>
          </p:cNvPicPr>
          <p:nvPr/>
        </p:nvPicPr>
        <p:blipFill>
          <a:blip r:embed="rId3"/>
          <a:stretch>
            <a:fillRect/>
          </a:stretch>
        </p:blipFill>
        <p:spPr>
          <a:xfrm>
            <a:off x="1038225" y="958726"/>
            <a:ext cx="9876887" cy="5733004"/>
          </a:xfrm>
          <a:prstGeom prst="rect">
            <a:avLst/>
          </a:prstGeom>
        </p:spPr>
      </p:pic>
      <p:pic>
        <p:nvPicPr>
          <p:cNvPr id="17" name="Imagen 16" descr="INNOVATION FOR BETTER HEALTH&#10;&#10;El contenido generado por IA puede ser incorrecto.">
            <a:extLst>
              <a:ext uri="{FF2B5EF4-FFF2-40B4-BE49-F238E27FC236}">
                <a16:creationId xmlns:a16="http://schemas.microsoft.com/office/drawing/2014/main" id="{DADE6BF5-7ACE-FB3F-E9B1-CF0DBB685B9B}"/>
              </a:ext>
            </a:extLst>
          </p:cNvPr>
          <p:cNvPicPr>
            <a:picLocks noChangeAspect="1"/>
          </p:cNvPicPr>
          <p:nvPr/>
        </p:nvPicPr>
        <p:blipFill>
          <a:blip r:embed="rId4">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sp>
        <p:nvSpPr>
          <p:cNvPr id="4" name="Elipse 3">
            <a:extLst>
              <a:ext uri="{FF2B5EF4-FFF2-40B4-BE49-F238E27FC236}">
                <a16:creationId xmlns:a16="http://schemas.microsoft.com/office/drawing/2014/main" id="{CBE800B4-105D-E03F-519E-01868219D2ED}"/>
              </a:ext>
            </a:extLst>
          </p:cNvPr>
          <p:cNvSpPr/>
          <p:nvPr/>
        </p:nvSpPr>
        <p:spPr>
          <a:xfrm>
            <a:off x="5312664" y="958726"/>
            <a:ext cx="1048893" cy="284858"/>
          </a:xfrm>
          <a:prstGeom prst="ellipse">
            <a:avLst/>
          </a:prstGeom>
          <a:noFill/>
          <a:ln>
            <a:solidFill>
              <a:srgbClr val="FF5E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Elipse 4">
            <a:extLst>
              <a:ext uri="{FF2B5EF4-FFF2-40B4-BE49-F238E27FC236}">
                <a16:creationId xmlns:a16="http://schemas.microsoft.com/office/drawing/2014/main" id="{22205DEC-032E-F3F4-7140-E5331EC0DE2F}"/>
              </a:ext>
            </a:extLst>
          </p:cNvPr>
          <p:cNvSpPr/>
          <p:nvPr/>
        </p:nvSpPr>
        <p:spPr>
          <a:xfrm>
            <a:off x="5312663" y="4430398"/>
            <a:ext cx="1664209" cy="284858"/>
          </a:xfrm>
          <a:prstGeom prst="ellipse">
            <a:avLst/>
          </a:prstGeom>
          <a:noFill/>
          <a:ln>
            <a:solidFill>
              <a:srgbClr val="FF5E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6CF65877-14DE-98CA-F652-515F3B6D3DA1}"/>
              </a:ext>
            </a:extLst>
          </p:cNvPr>
          <p:cNvSpPr txBox="1"/>
          <p:nvPr/>
        </p:nvSpPr>
        <p:spPr>
          <a:xfrm>
            <a:off x="4544568" y="916489"/>
            <a:ext cx="1106424" cy="369332"/>
          </a:xfrm>
          <a:prstGeom prst="rect">
            <a:avLst/>
          </a:prstGeom>
          <a:noFill/>
        </p:spPr>
        <p:txBody>
          <a:bodyPr wrap="square" rtlCol="0">
            <a:spAutoFit/>
          </a:bodyPr>
          <a:lstStyle/>
          <a:p>
            <a:r>
              <a:rPr lang="es-ES" dirty="0">
                <a:solidFill>
                  <a:srgbClr val="FF0000"/>
                </a:solidFill>
                <a:latin typeface="Times New Roman" panose="02020603050405020304" pitchFamily="18" charset="0"/>
                <a:cs typeface="Times New Roman" panose="02020603050405020304" pitchFamily="18" charset="0"/>
              </a:rPr>
              <a:t>SCD2</a:t>
            </a:r>
          </a:p>
        </p:txBody>
      </p:sp>
      <p:sp>
        <p:nvSpPr>
          <p:cNvPr id="7" name="CuadroTexto 6">
            <a:extLst>
              <a:ext uri="{FF2B5EF4-FFF2-40B4-BE49-F238E27FC236}">
                <a16:creationId xmlns:a16="http://schemas.microsoft.com/office/drawing/2014/main" id="{9AD021BB-0403-BF03-213A-D9C05E959DC5}"/>
              </a:ext>
            </a:extLst>
          </p:cNvPr>
          <p:cNvSpPr txBox="1"/>
          <p:nvPr/>
        </p:nvSpPr>
        <p:spPr>
          <a:xfrm>
            <a:off x="5650992" y="4103303"/>
            <a:ext cx="1106424" cy="369332"/>
          </a:xfrm>
          <a:prstGeom prst="rect">
            <a:avLst/>
          </a:prstGeom>
          <a:noFill/>
        </p:spPr>
        <p:txBody>
          <a:bodyPr wrap="square" rtlCol="0">
            <a:spAutoFit/>
          </a:bodyPr>
          <a:lstStyle/>
          <a:p>
            <a:r>
              <a:rPr lang="es-ES" dirty="0">
                <a:solidFill>
                  <a:srgbClr val="FF0000"/>
                </a:solidFill>
                <a:latin typeface="Times New Roman" panose="02020603050405020304" pitchFamily="18" charset="0"/>
                <a:cs typeface="Times New Roman" panose="02020603050405020304" pitchFamily="18" charset="0"/>
              </a:rPr>
              <a:t>SCD2</a:t>
            </a:r>
          </a:p>
        </p:txBody>
      </p:sp>
    </p:spTree>
    <p:extLst>
      <p:ext uri="{BB962C8B-B14F-4D97-AF65-F5344CB8AC3E}">
        <p14:creationId xmlns:p14="http://schemas.microsoft.com/office/powerpoint/2010/main" val="33492404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AF389-AD26-624A-386B-47F44E9E6439}"/>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01CF3667-CC58-7824-5534-0DCDC716D1CB}"/>
              </a:ext>
            </a:extLst>
          </p:cNvPr>
          <p:cNvSpPr txBox="1">
            <a:spLocks/>
          </p:cNvSpPr>
          <p:nvPr/>
        </p:nvSpPr>
        <p:spPr>
          <a:xfrm>
            <a:off x="175660" y="-352854"/>
            <a:ext cx="532333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Modelo dimensional</a:t>
            </a:r>
          </a:p>
        </p:txBody>
      </p:sp>
      <p:pic>
        <p:nvPicPr>
          <p:cNvPr id="3" name="Imagen 2" descr="The image appears to be a complex data diagram or graph showing various interconnected attributes such as product IDs, prices, sales, and customer information, possibly for an e-commerce or sales management system.&#10;&#10;El contenido generado por IA puede ser incorrecto.">
            <a:extLst>
              <a:ext uri="{FF2B5EF4-FFF2-40B4-BE49-F238E27FC236}">
                <a16:creationId xmlns:a16="http://schemas.microsoft.com/office/drawing/2014/main" id="{977FA162-B9C2-6252-21E9-323BA8C391D6}"/>
              </a:ext>
            </a:extLst>
          </p:cNvPr>
          <p:cNvPicPr>
            <a:picLocks noChangeAspect="1"/>
          </p:cNvPicPr>
          <p:nvPr/>
        </p:nvPicPr>
        <p:blipFill>
          <a:blip r:embed="rId3"/>
          <a:stretch>
            <a:fillRect/>
          </a:stretch>
        </p:blipFill>
        <p:spPr>
          <a:xfrm>
            <a:off x="1038225" y="958726"/>
            <a:ext cx="9876887" cy="5733004"/>
          </a:xfrm>
          <a:prstGeom prst="rect">
            <a:avLst/>
          </a:prstGeom>
        </p:spPr>
      </p:pic>
      <p:pic>
        <p:nvPicPr>
          <p:cNvPr id="17" name="Imagen 16" descr="INNOVATION FOR BETTER HEALTH&#10;&#10;El contenido generado por IA puede ser incorrecto.">
            <a:extLst>
              <a:ext uri="{FF2B5EF4-FFF2-40B4-BE49-F238E27FC236}">
                <a16:creationId xmlns:a16="http://schemas.microsoft.com/office/drawing/2014/main" id="{0AA0187F-049C-02DB-D732-E6C79DE4CA05}"/>
              </a:ext>
            </a:extLst>
          </p:cNvPr>
          <p:cNvPicPr>
            <a:picLocks noChangeAspect="1"/>
          </p:cNvPicPr>
          <p:nvPr/>
        </p:nvPicPr>
        <p:blipFill>
          <a:blip r:embed="rId4">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sp>
        <p:nvSpPr>
          <p:cNvPr id="4" name="Elipse 3">
            <a:extLst>
              <a:ext uri="{FF2B5EF4-FFF2-40B4-BE49-F238E27FC236}">
                <a16:creationId xmlns:a16="http://schemas.microsoft.com/office/drawing/2014/main" id="{7B6823CF-BB75-6AB2-2060-540AEE123D1E}"/>
              </a:ext>
            </a:extLst>
          </p:cNvPr>
          <p:cNvSpPr/>
          <p:nvPr/>
        </p:nvSpPr>
        <p:spPr>
          <a:xfrm>
            <a:off x="5312664" y="958726"/>
            <a:ext cx="1048893" cy="284858"/>
          </a:xfrm>
          <a:prstGeom prst="ellipse">
            <a:avLst/>
          </a:prstGeom>
          <a:noFill/>
          <a:ln>
            <a:solidFill>
              <a:srgbClr val="FF5E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Elipse 4">
            <a:extLst>
              <a:ext uri="{FF2B5EF4-FFF2-40B4-BE49-F238E27FC236}">
                <a16:creationId xmlns:a16="http://schemas.microsoft.com/office/drawing/2014/main" id="{34B69DB5-7C41-23A2-3972-58E3C1AE9F33}"/>
              </a:ext>
            </a:extLst>
          </p:cNvPr>
          <p:cNvSpPr/>
          <p:nvPr/>
        </p:nvSpPr>
        <p:spPr>
          <a:xfrm>
            <a:off x="5312663" y="4430398"/>
            <a:ext cx="1664209" cy="284858"/>
          </a:xfrm>
          <a:prstGeom prst="ellipse">
            <a:avLst/>
          </a:prstGeom>
          <a:noFill/>
          <a:ln>
            <a:solidFill>
              <a:srgbClr val="FF5E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85F139E-C986-3C89-B693-754639051F95}"/>
              </a:ext>
            </a:extLst>
          </p:cNvPr>
          <p:cNvSpPr txBox="1"/>
          <p:nvPr/>
        </p:nvSpPr>
        <p:spPr>
          <a:xfrm>
            <a:off x="4544568" y="916489"/>
            <a:ext cx="1106424" cy="369332"/>
          </a:xfrm>
          <a:prstGeom prst="rect">
            <a:avLst/>
          </a:prstGeom>
          <a:noFill/>
        </p:spPr>
        <p:txBody>
          <a:bodyPr wrap="square" rtlCol="0">
            <a:spAutoFit/>
          </a:bodyPr>
          <a:lstStyle/>
          <a:p>
            <a:r>
              <a:rPr lang="es-ES" dirty="0">
                <a:solidFill>
                  <a:srgbClr val="FF0000"/>
                </a:solidFill>
                <a:latin typeface="Times New Roman" panose="02020603050405020304" pitchFamily="18" charset="0"/>
                <a:cs typeface="Times New Roman" panose="02020603050405020304" pitchFamily="18" charset="0"/>
              </a:rPr>
              <a:t>SCD2</a:t>
            </a:r>
          </a:p>
        </p:txBody>
      </p:sp>
      <p:sp>
        <p:nvSpPr>
          <p:cNvPr id="7" name="CuadroTexto 6">
            <a:extLst>
              <a:ext uri="{FF2B5EF4-FFF2-40B4-BE49-F238E27FC236}">
                <a16:creationId xmlns:a16="http://schemas.microsoft.com/office/drawing/2014/main" id="{E00471DB-F5AE-04E3-3740-A4C62B590AFA}"/>
              </a:ext>
            </a:extLst>
          </p:cNvPr>
          <p:cNvSpPr txBox="1"/>
          <p:nvPr/>
        </p:nvSpPr>
        <p:spPr>
          <a:xfrm>
            <a:off x="5650992" y="4103303"/>
            <a:ext cx="1106424" cy="369332"/>
          </a:xfrm>
          <a:prstGeom prst="rect">
            <a:avLst/>
          </a:prstGeom>
          <a:noFill/>
        </p:spPr>
        <p:txBody>
          <a:bodyPr wrap="square" rtlCol="0">
            <a:spAutoFit/>
          </a:bodyPr>
          <a:lstStyle/>
          <a:p>
            <a:r>
              <a:rPr lang="es-ES" dirty="0">
                <a:solidFill>
                  <a:srgbClr val="FF0000"/>
                </a:solidFill>
                <a:latin typeface="Times New Roman" panose="02020603050405020304" pitchFamily="18" charset="0"/>
                <a:cs typeface="Times New Roman" panose="02020603050405020304" pitchFamily="18" charset="0"/>
              </a:rPr>
              <a:t>SCD2</a:t>
            </a:r>
          </a:p>
        </p:txBody>
      </p:sp>
      <p:sp>
        <p:nvSpPr>
          <p:cNvPr id="2" name="Estrella: 5 puntas 1">
            <a:extLst>
              <a:ext uri="{FF2B5EF4-FFF2-40B4-BE49-F238E27FC236}">
                <a16:creationId xmlns:a16="http://schemas.microsoft.com/office/drawing/2014/main" id="{580E2A6C-FD9B-88BF-42DC-6A8EAF4D1AFF}"/>
              </a:ext>
            </a:extLst>
          </p:cNvPr>
          <p:cNvSpPr/>
          <p:nvPr/>
        </p:nvSpPr>
        <p:spPr>
          <a:xfrm>
            <a:off x="2882900" y="1929025"/>
            <a:ext cx="343947" cy="287125"/>
          </a:xfrm>
          <a:prstGeom prst="star5">
            <a:avLst/>
          </a:prstGeom>
          <a:solidFill>
            <a:srgbClr val="EA5341"/>
          </a:solidFill>
          <a:ln>
            <a:solidFill>
              <a:srgbClr val="EA53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4297248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C56E2-4ACE-29BA-378C-82F0D9A9070E}"/>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FDA9DFB3-A3F2-0C68-3C77-332A1B04A1AC}"/>
              </a:ext>
            </a:extLst>
          </p:cNvPr>
          <p:cNvSpPr txBox="1">
            <a:spLocks/>
          </p:cNvSpPr>
          <p:nvPr/>
        </p:nvSpPr>
        <p:spPr>
          <a:xfrm>
            <a:off x="175660" y="-352854"/>
            <a:ext cx="876717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Formulación del pipeline</a:t>
            </a:r>
          </a:p>
        </p:txBody>
      </p:sp>
      <p:pic>
        <p:nvPicPr>
          <p:cNvPr id="17" name="Imagen 16" descr="INNOVATION FOR BETTER HEALTH&#10;&#10;El contenido generado por IA puede ser incorrecto.">
            <a:extLst>
              <a:ext uri="{FF2B5EF4-FFF2-40B4-BE49-F238E27FC236}">
                <a16:creationId xmlns:a16="http://schemas.microsoft.com/office/drawing/2014/main" id="{9D4E6E65-6E4B-B6A6-9360-C727D34D234E}"/>
              </a:ext>
            </a:extLst>
          </p:cNvPr>
          <p:cNvPicPr>
            <a:picLocks noChangeAspect="1"/>
          </p:cNvPicPr>
          <p:nvPr/>
        </p:nvPicPr>
        <p:blipFill>
          <a:blip r:embed="rId3">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pic>
        <p:nvPicPr>
          <p:cNvPr id="3" name="Imagen 2">
            <a:extLst>
              <a:ext uri="{FF2B5EF4-FFF2-40B4-BE49-F238E27FC236}">
                <a16:creationId xmlns:a16="http://schemas.microsoft.com/office/drawing/2014/main" id="{E13A3F1D-AE3B-E828-507D-24861436118D}"/>
              </a:ext>
            </a:extLst>
          </p:cNvPr>
          <p:cNvPicPr>
            <a:picLocks noChangeAspect="1"/>
          </p:cNvPicPr>
          <p:nvPr/>
        </p:nvPicPr>
        <p:blipFill>
          <a:blip r:embed="rId4"/>
          <a:stretch>
            <a:fillRect/>
          </a:stretch>
        </p:blipFill>
        <p:spPr>
          <a:xfrm>
            <a:off x="4721083" y="1193960"/>
            <a:ext cx="7183522" cy="346081"/>
          </a:xfrm>
          <a:prstGeom prst="rect">
            <a:avLst/>
          </a:prstGeom>
        </p:spPr>
      </p:pic>
    </p:spTree>
    <p:extLst>
      <p:ext uri="{BB962C8B-B14F-4D97-AF65-F5344CB8AC3E}">
        <p14:creationId xmlns:p14="http://schemas.microsoft.com/office/powerpoint/2010/main" val="1016579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3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107F7-A710-7B2D-E391-B5ECE296061B}"/>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5756E264-36B0-A2B1-F35D-537C17A5EE5D}"/>
              </a:ext>
            </a:extLst>
          </p:cNvPr>
          <p:cNvSpPr txBox="1">
            <a:spLocks/>
          </p:cNvSpPr>
          <p:nvPr/>
        </p:nvSpPr>
        <p:spPr>
          <a:xfrm>
            <a:off x="175660" y="-352854"/>
            <a:ext cx="876717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Formulación del pipeline</a:t>
            </a:r>
          </a:p>
        </p:txBody>
      </p:sp>
      <p:pic>
        <p:nvPicPr>
          <p:cNvPr id="17" name="Imagen 16" descr="INNOVATION FOR BETTER HEALTH&#10;&#10;El contenido generado por IA puede ser incorrecto.">
            <a:extLst>
              <a:ext uri="{FF2B5EF4-FFF2-40B4-BE49-F238E27FC236}">
                <a16:creationId xmlns:a16="http://schemas.microsoft.com/office/drawing/2014/main" id="{4D2DE73A-8574-6953-E95F-C93F851BE645}"/>
              </a:ext>
            </a:extLst>
          </p:cNvPr>
          <p:cNvPicPr>
            <a:picLocks noChangeAspect="1"/>
          </p:cNvPicPr>
          <p:nvPr/>
        </p:nvPicPr>
        <p:blipFill>
          <a:blip r:embed="rId3">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pic>
        <p:nvPicPr>
          <p:cNvPr id="10" name="Imagen 9" descr="kaggle.&#10;&#10;El contenido generado por IA puede ser incorrecto.">
            <a:extLst>
              <a:ext uri="{FF2B5EF4-FFF2-40B4-BE49-F238E27FC236}">
                <a16:creationId xmlns:a16="http://schemas.microsoft.com/office/drawing/2014/main" id="{A478A8C2-F285-4EC5-BCF1-8FE80BF319E6}"/>
              </a:ext>
            </a:extLst>
          </p:cNvPr>
          <p:cNvPicPr>
            <a:picLocks noChangeAspect="1"/>
          </p:cNvPicPr>
          <p:nvPr/>
        </p:nvPicPr>
        <p:blipFill>
          <a:blip r:embed="rId4"/>
          <a:stretch>
            <a:fillRect/>
          </a:stretch>
        </p:blipFill>
        <p:spPr>
          <a:xfrm>
            <a:off x="502230" y="1350447"/>
            <a:ext cx="2971699" cy="1066183"/>
          </a:xfrm>
          <a:prstGeom prst="rect">
            <a:avLst/>
          </a:prstGeom>
        </p:spPr>
      </p:pic>
      <p:pic>
        <p:nvPicPr>
          <p:cNvPr id="2" name="Imagen 1">
            <a:extLst>
              <a:ext uri="{FF2B5EF4-FFF2-40B4-BE49-F238E27FC236}">
                <a16:creationId xmlns:a16="http://schemas.microsoft.com/office/drawing/2014/main" id="{1AA0244C-A561-BDB7-9C80-CE004C982BB1}"/>
              </a:ext>
            </a:extLst>
          </p:cNvPr>
          <p:cNvPicPr>
            <a:picLocks noChangeAspect="1"/>
          </p:cNvPicPr>
          <p:nvPr/>
        </p:nvPicPr>
        <p:blipFill>
          <a:blip r:embed="rId5"/>
          <a:stretch>
            <a:fillRect/>
          </a:stretch>
        </p:blipFill>
        <p:spPr>
          <a:xfrm>
            <a:off x="4721083" y="1193960"/>
            <a:ext cx="7183522" cy="346081"/>
          </a:xfrm>
          <a:prstGeom prst="rect">
            <a:avLst/>
          </a:prstGeom>
        </p:spPr>
      </p:pic>
    </p:spTree>
    <p:extLst>
      <p:ext uri="{BB962C8B-B14F-4D97-AF65-F5344CB8AC3E}">
        <p14:creationId xmlns:p14="http://schemas.microsoft.com/office/powerpoint/2010/main" val="21060923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1F284-5AEF-D5B4-EF37-25EF1128B2C6}"/>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361C1B84-F59A-9086-2785-604D1006F2C6}"/>
              </a:ext>
            </a:extLst>
          </p:cNvPr>
          <p:cNvSpPr txBox="1">
            <a:spLocks/>
          </p:cNvSpPr>
          <p:nvPr/>
        </p:nvSpPr>
        <p:spPr>
          <a:xfrm>
            <a:off x="175660" y="-352854"/>
            <a:ext cx="876717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Formulación del pipeline</a:t>
            </a:r>
          </a:p>
        </p:txBody>
      </p:sp>
      <p:pic>
        <p:nvPicPr>
          <p:cNvPr id="17" name="Imagen 16" descr="INNOVATION FOR BETTER HEALTH&#10;&#10;El contenido generado por IA puede ser incorrecto.">
            <a:extLst>
              <a:ext uri="{FF2B5EF4-FFF2-40B4-BE49-F238E27FC236}">
                <a16:creationId xmlns:a16="http://schemas.microsoft.com/office/drawing/2014/main" id="{05F3FBE2-8430-1DFE-DFFC-0F91AC7AEFD3}"/>
              </a:ext>
            </a:extLst>
          </p:cNvPr>
          <p:cNvPicPr>
            <a:picLocks noChangeAspect="1"/>
          </p:cNvPicPr>
          <p:nvPr/>
        </p:nvPicPr>
        <p:blipFill>
          <a:blip r:embed="rId3">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pic>
        <p:nvPicPr>
          <p:cNvPr id="10" name="Imagen 9" descr="kaggle.&#10;&#10;El contenido generado por IA puede ser incorrecto.">
            <a:extLst>
              <a:ext uri="{FF2B5EF4-FFF2-40B4-BE49-F238E27FC236}">
                <a16:creationId xmlns:a16="http://schemas.microsoft.com/office/drawing/2014/main" id="{32B7D19A-B489-9E0C-9E52-AF138BC3FEC8}"/>
              </a:ext>
            </a:extLst>
          </p:cNvPr>
          <p:cNvPicPr>
            <a:picLocks noChangeAspect="1"/>
          </p:cNvPicPr>
          <p:nvPr/>
        </p:nvPicPr>
        <p:blipFill>
          <a:blip r:embed="rId4"/>
          <a:stretch>
            <a:fillRect/>
          </a:stretch>
        </p:blipFill>
        <p:spPr>
          <a:xfrm>
            <a:off x="502230" y="1350447"/>
            <a:ext cx="2971699" cy="1066183"/>
          </a:xfrm>
          <a:prstGeom prst="rect">
            <a:avLst/>
          </a:prstGeom>
        </p:spPr>
      </p:pic>
      <p:pic>
        <p:nvPicPr>
          <p:cNvPr id="24" name="Imagen 23" descr="The image displays a collection of file names related to database management and configuration, including a .yml file, a .sql file for generating a database name, a .sql file for schema creation, and a .sql file for macros.&#10;&#10;El contenido generado por IA puede ser incorrecto.">
            <a:extLst>
              <a:ext uri="{FF2B5EF4-FFF2-40B4-BE49-F238E27FC236}">
                <a16:creationId xmlns:a16="http://schemas.microsoft.com/office/drawing/2014/main" id="{508CF4D7-B6C1-59E8-C697-23BDF14ED724}"/>
              </a:ext>
            </a:extLst>
          </p:cNvPr>
          <p:cNvPicPr>
            <a:picLocks noChangeAspect="1"/>
          </p:cNvPicPr>
          <p:nvPr/>
        </p:nvPicPr>
        <p:blipFill>
          <a:blip r:embed="rId5"/>
          <a:stretch>
            <a:fillRect/>
          </a:stretch>
        </p:blipFill>
        <p:spPr>
          <a:xfrm>
            <a:off x="502230" y="2625078"/>
            <a:ext cx="3362199" cy="2113695"/>
          </a:xfrm>
          <a:prstGeom prst="rect">
            <a:avLst/>
          </a:prstGeom>
        </p:spPr>
      </p:pic>
      <p:pic>
        <p:nvPicPr>
          <p:cNvPr id="28" name="Imagen 27" descr="SED&#10;&#10;El contenido generado por IA puede ser incorrecto.">
            <a:extLst>
              <a:ext uri="{FF2B5EF4-FFF2-40B4-BE49-F238E27FC236}">
                <a16:creationId xmlns:a16="http://schemas.microsoft.com/office/drawing/2014/main" id="{CEA5A390-3213-F6B2-9FBE-996CF3BD3ABA}"/>
              </a:ext>
            </a:extLst>
          </p:cNvPr>
          <p:cNvPicPr>
            <a:picLocks noChangeAspect="1"/>
          </p:cNvPicPr>
          <p:nvPr/>
        </p:nvPicPr>
        <p:blipFill>
          <a:blip r:embed="rId6"/>
          <a:stretch>
            <a:fillRect/>
          </a:stretch>
        </p:blipFill>
        <p:spPr>
          <a:xfrm>
            <a:off x="7340963" y="2428095"/>
            <a:ext cx="3514811" cy="811901"/>
          </a:xfrm>
          <a:prstGeom prst="rect">
            <a:avLst/>
          </a:prstGeom>
        </p:spPr>
      </p:pic>
      <p:pic>
        <p:nvPicPr>
          <p:cNvPr id="30" name="Imagen 29" descr="canonical_sales_reps&#10;&#10;El contenido generado por IA puede ser incorrecto.">
            <a:extLst>
              <a:ext uri="{FF2B5EF4-FFF2-40B4-BE49-F238E27FC236}">
                <a16:creationId xmlns:a16="http://schemas.microsoft.com/office/drawing/2014/main" id="{3B374A40-8A0A-EC49-4F10-3ED7C1B8DB3A}"/>
              </a:ext>
            </a:extLst>
          </p:cNvPr>
          <p:cNvPicPr>
            <a:picLocks noChangeAspect="1"/>
          </p:cNvPicPr>
          <p:nvPr/>
        </p:nvPicPr>
        <p:blipFill>
          <a:blip r:embed="rId7"/>
          <a:stretch>
            <a:fillRect/>
          </a:stretch>
        </p:blipFill>
        <p:spPr>
          <a:xfrm>
            <a:off x="7340963" y="3318174"/>
            <a:ext cx="3166170" cy="932671"/>
          </a:xfrm>
          <a:prstGeom prst="rect">
            <a:avLst/>
          </a:prstGeom>
        </p:spPr>
      </p:pic>
      <p:pic>
        <p:nvPicPr>
          <p:cNvPr id="32" name="Imagen 31" descr="SED&#10;&#10;El contenido generado por IA puede ser incorrecto.">
            <a:extLst>
              <a:ext uri="{FF2B5EF4-FFF2-40B4-BE49-F238E27FC236}">
                <a16:creationId xmlns:a16="http://schemas.microsoft.com/office/drawing/2014/main" id="{DAA7E43B-3E75-5FE7-F019-02001FB9000E}"/>
              </a:ext>
            </a:extLst>
          </p:cNvPr>
          <p:cNvPicPr>
            <a:picLocks noChangeAspect="1"/>
          </p:cNvPicPr>
          <p:nvPr/>
        </p:nvPicPr>
        <p:blipFill>
          <a:blip r:embed="rId8"/>
          <a:stretch>
            <a:fillRect/>
          </a:stretch>
        </p:blipFill>
        <p:spPr>
          <a:xfrm>
            <a:off x="7340964" y="4276719"/>
            <a:ext cx="3166169" cy="863500"/>
          </a:xfrm>
          <a:prstGeom prst="rect">
            <a:avLst/>
          </a:prstGeom>
        </p:spPr>
      </p:pic>
      <p:pic>
        <p:nvPicPr>
          <p:cNvPr id="2" name="Imagen 1">
            <a:extLst>
              <a:ext uri="{FF2B5EF4-FFF2-40B4-BE49-F238E27FC236}">
                <a16:creationId xmlns:a16="http://schemas.microsoft.com/office/drawing/2014/main" id="{8D0904E3-FB54-9542-72C2-E537DF3C25D0}"/>
              </a:ext>
            </a:extLst>
          </p:cNvPr>
          <p:cNvPicPr>
            <a:picLocks noChangeAspect="1"/>
          </p:cNvPicPr>
          <p:nvPr/>
        </p:nvPicPr>
        <p:blipFill>
          <a:blip r:embed="rId9"/>
          <a:stretch>
            <a:fillRect/>
          </a:stretch>
        </p:blipFill>
        <p:spPr>
          <a:xfrm>
            <a:off x="4721083" y="1193960"/>
            <a:ext cx="7183522" cy="346081"/>
          </a:xfrm>
          <a:prstGeom prst="rect">
            <a:avLst/>
          </a:prstGeom>
        </p:spPr>
      </p:pic>
      <p:pic>
        <p:nvPicPr>
          <p:cNvPr id="4" name="Imagen 3" descr="The image displays a list of various file and folder names, including 'seeds', 'gitkeep', and several CSV and YML files related to canonical managers, product classes, and sales reps.&#10;&#10;El contenido generado por IA puede ser incorrecto.">
            <a:extLst>
              <a:ext uri="{FF2B5EF4-FFF2-40B4-BE49-F238E27FC236}">
                <a16:creationId xmlns:a16="http://schemas.microsoft.com/office/drawing/2014/main" id="{2DD0E4DD-2EAA-1829-5C3A-EBEC3AECC982}"/>
              </a:ext>
            </a:extLst>
          </p:cNvPr>
          <p:cNvPicPr>
            <a:picLocks noChangeAspect="1"/>
          </p:cNvPicPr>
          <p:nvPr/>
        </p:nvPicPr>
        <p:blipFill>
          <a:blip r:embed="rId10"/>
          <a:stretch>
            <a:fillRect/>
          </a:stretch>
        </p:blipFill>
        <p:spPr>
          <a:xfrm>
            <a:off x="3864429" y="2767795"/>
            <a:ext cx="3352968" cy="2069079"/>
          </a:xfrm>
          <a:prstGeom prst="rect">
            <a:avLst/>
          </a:prstGeom>
        </p:spPr>
      </p:pic>
    </p:spTree>
    <p:extLst>
      <p:ext uri="{BB962C8B-B14F-4D97-AF65-F5344CB8AC3E}">
        <p14:creationId xmlns:p14="http://schemas.microsoft.com/office/powerpoint/2010/main" val="29927113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01ED2-5475-B4CC-6F7E-A7A7004C14FB}"/>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91D7D0A2-6C77-D195-D269-F1212B42D833}"/>
              </a:ext>
            </a:extLst>
          </p:cNvPr>
          <p:cNvSpPr txBox="1">
            <a:spLocks/>
          </p:cNvSpPr>
          <p:nvPr/>
        </p:nvSpPr>
        <p:spPr>
          <a:xfrm>
            <a:off x="175660" y="-352854"/>
            <a:ext cx="876717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Formulación del pipeline</a:t>
            </a:r>
          </a:p>
        </p:txBody>
      </p:sp>
      <p:pic>
        <p:nvPicPr>
          <p:cNvPr id="17" name="Imagen 16" descr="INNOVATION FOR BETTER HEALTH&#10;&#10;El contenido generado por IA puede ser incorrecto.">
            <a:extLst>
              <a:ext uri="{FF2B5EF4-FFF2-40B4-BE49-F238E27FC236}">
                <a16:creationId xmlns:a16="http://schemas.microsoft.com/office/drawing/2014/main" id="{6CDF8C81-9896-1EDA-F69D-CBFBDB39B287}"/>
              </a:ext>
            </a:extLst>
          </p:cNvPr>
          <p:cNvPicPr>
            <a:picLocks noChangeAspect="1"/>
          </p:cNvPicPr>
          <p:nvPr/>
        </p:nvPicPr>
        <p:blipFill>
          <a:blip r:embed="rId3">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pic>
        <p:nvPicPr>
          <p:cNvPr id="10" name="Imagen 9" descr="kaggle.&#10;&#10;El contenido generado por IA puede ser incorrecto.">
            <a:extLst>
              <a:ext uri="{FF2B5EF4-FFF2-40B4-BE49-F238E27FC236}">
                <a16:creationId xmlns:a16="http://schemas.microsoft.com/office/drawing/2014/main" id="{32C65979-A1FE-BAF1-CEF2-899F306CFB22}"/>
              </a:ext>
            </a:extLst>
          </p:cNvPr>
          <p:cNvPicPr>
            <a:picLocks noChangeAspect="1"/>
          </p:cNvPicPr>
          <p:nvPr/>
        </p:nvPicPr>
        <p:blipFill>
          <a:blip r:embed="rId4"/>
          <a:stretch>
            <a:fillRect/>
          </a:stretch>
        </p:blipFill>
        <p:spPr>
          <a:xfrm>
            <a:off x="502230" y="1350447"/>
            <a:ext cx="2971699" cy="1066183"/>
          </a:xfrm>
          <a:prstGeom prst="rect">
            <a:avLst/>
          </a:prstGeom>
        </p:spPr>
      </p:pic>
      <p:pic>
        <p:nvPicPr>
          <p:cNvPr id="18" name="Imagen 17" descr="The image displays a list of file names: .gitkeep, snapshots_check.sql, and snapshots.yml.&#10;&#10;El contenido generado por IA puede ser incorrecto.">
            <a:extLst>
              <a:ext uri="{FF2B5EF4-FFF2-40B4-BE49-F238E27FC236}">
                <a16:creationId xmlns:a16="http://schemas.microsoft.com/office/drawing/2014/main" id="{4F5149E9-95A8-D3C3-5B8E-28F1F6B6A0C0}"/>
              </a:ext>
            </a:extLst>
          </p:cNvPr>
          <p:cNvPicPr>
            <a:picLocks noChangeAspect="1"/>
          </p:cNvPicPr>
          <p:nvPr/>
        </p:nvPicPr>
        <p:blipFill>
          <a:blip r:embed="rId5"/>
          <a:stretch>
            <a:fillRect/>
          </a:stretch>
        </p:blipFill>
        <p:spPr>
          <a:xfrm>
            <a:off x="519520" y="5276863"/>
            <a:ext cx="2480455" cy="1221853"/>
          </a:xfrm>
          <a:prstGeom prst="rect">
            <a:avLst/>
          </a:prstGeom>
        </p:spPr>
      </p:pic>
      <p:pic>
        <p:nvPicPr>
          <p:cNvPr id="24" name="Imagen 23" descr="The image displays a collection of file names related to database management and configuration, including a .yml file, a .sql file for generating a database name, a .sql file for schema creation, and a .sql file for macros.&#10;&#10;El contenido generado por IA puede ser incorrecto.">
            <a:extLst>
              <a:ext uri="{FF2B5EF4-FFF2-40B4-BE49-F238E27FC236}">
                <a16:creationId xmlns:a16="http://schemas.microsoft.com/office/drawing/2014/main" id="{B7DBD882-7076-F2A6-CBE6-CD17AD44A522}"/>
              </a:ext>
            </a:extLst>
          </p:cNvPr>
          <p:cNvPicPr>
            <a:picLocks noChangeAspect="1"/>
          </p:cNvPicPr>
          <p:nvPr/>
        </p:nvPicPr>
        <p:blipFill>
          <a:blip r:embed="rId6"/>
          <a:stretch>
            <a:fillRect/>
          </a:stretch>
        </p:blipFill>
        <p:spPr>
          <a:xfrm>
            <a:off x="502230" y="2625078"/>
            <a:ext cx="3362199" cy="2113695"/>
          </a:xfrm>
          <a:prstGeom prst="rect">
            <a:avLst/>
          </a:prstGeom>
        </p:spPr>
      </p:pic>
      <p:pic>
        <p:nvPicPr>
          <p:cNvPr id="26" name="Imagen 25" descr="SNP&#10;&#10;El contenido generado por IA puede ser incorrecto.">
            <a:extLst>
              <a:ext uri="{FF2B5EF4-FFF2-40B4-BE49-F238E27FC236}">
                <a16:creationId xmlns:a16="http://schemas.microsoft.com/office/drawing/2014/main" id="{C50F149E-C6EA-9E12-9374-D761FF008315}"/>
              </a:ext>
            </a:extLst>
          </p:cNvPr>
          <p:cNvPicPr>
            <a:picLocks noChangeAspect="1"/>
          </p:cNvPicPr>
          <p:nvPr/>
        </p:nvPicPr>
        <p:blipFill>
          <a:blip r:embed="rId7"/>
          <a:stretch>
            <a:fillRect/>
          </a:stretch>
        </p:blipFill>
        <p:spPr>
          <a:xfrm>
            <a:off x="3864429" y="5518903"/>
            <a:ext cx="2635385" cy="762039"/>
          </a:xfrm>
          <a:prstGeom prst="rect">
            <a:avLst/>
          </a:prstGeom>
        </p:spPr>
      </p:pic>
      <p:pic>
        <p:nvPicPr>
          <p:cNvPr id="2" name="Imagen 1">
            <a:extLst>
              <a:ext uri="{FF2B5EF4-FFF2-40B4-BE49-F238E27FC236}">
                <a16:creationId xmlns:a16="http://schemas.microsoft.com/office/drawing/2014/main" id="{C463DEBD-1202-7E87-8C03-8D3D5604E909}"/>
              </a:ext>
            </a:extLst>
          </p:cNvPr>
          <p:cNvPicPr>
            <a:picLocks noChangeAspect="1"/>
          </p:cNvPicPr>
          <p:nvPr/>
        </p:nvPicPr>
        <p:blipFill>
          <a:blip r:embed="rId8"/>
          <a:stretch>
            <a:fillRect/>
          </a:stretch>
        </p:blipFill>
        <p:spPr>
          <a:xfrm>
            <a:off x="4721083" y="1193960"/>
            <a:ext cx="7183522" cy="346081"/>
          </a:xfrm>
          <a:prstGeom prst="rect">
            <a:avLst/>
          </a:prstGeom>
        </p:spPr>
      </p:pic>
      <p:pic>
        <p:nvPicPr>
          <p:cNvPr id="3" name="Imagen 2">
            <a:extLst>
              <a:ext uri="{FF2B5EF4-FFF2-40B4-BE49-F238E27FC236}">
                <a16:creationId xmlns:a16="http://schemas.microsoft.com/office/drawing/2014/main" id="{C5D98519-1022-75F4-C2DE-32E165FF2376}"/>
              </a:ext>
            </a:extLst>
          </p:cNvPr>
          <p:cNvPicPr>
            <a:picLocks noChangeAspect="1"/>
          </p:cNvPicPr>
          <p:nvPr/>
        </p:nvPicPr>
        <p:blipFill>
          <a:blip r:embed="rId9"/>
          <a:stretch>
            <a:fillRect/>
          </a:stretch>
        </p:blipFill>
        <p:spPr>
          <a:xfrm>
            <a:off x="3864429" y="2767795"/>
            <a:ext cx="3352968" cy="2069079"/>
          </a:xfrm>
          <a:prstGeom prst="rect">
            <a:avLst/>
          </a:prstGeom>
        </p:spPr>
      </p:pic>
      <p:pic>
        <p:nvPicPr>
          <p:cNvPr id="4" name="Imagen 3" descr="SED&#10;&#10;El contenido generado por IA puede ser incorrecto.">
            <a:extLst>
              <a:ext uri="{FF2B5EF4-FFF2-40B4-BE49-F238E27FC236}">
                <a16:creationId xmlns:a16="http://schemas.microsoft.com/office/drawing/2014/main" id="{24A58F7B-1D5C-8EA7-A055-4678624CE3EB}"/>
              </a:ext>
            </a:extLst>
          </p:cNvPr>
          <p:cNvPicPr>
            <a:picLocks noChangeAspect="1"/>
          </p:cNvPicPr>
          <p:nvPr/>
        </p:nvPicPr>
        <p:blipFill>
          <a:blip r:embed="rId10"/>
          <a:stretch>
            <a:fillRect/>
          </a:stretch>
        </p:blipFill>
        <p:spPr>
          <a:xfrm>
            <a:off x="7340963" y="2428095"/>
            <a:ext cx="3514811" cy="811901"/>
          </a:xfrm>
          <a:prstGeom prst="rect">
            <a:avLst/>
          </a:prstGeom>
        </p:spPr>
      </p:pic>
      <p:pic>
        <p:nvPicPr>
          <p:cNvPr id="5" name="Imagen 4" descr="canonical_sales_reps&#10;&#10;El contenido generado por IA puede ser incorrecto.">
            <a:extLst>
              <a:ext uri="{FF2B5EF4-FFF2-40B4-BE49-F238E27FC236}">
                <a16:creationId xmlns:a16="http://schemas.microsoft.com/office/drawing/2014/main" id="{8A57A194-6C3D-608B-C6B2-BD771EF08C31}"/>
              </a:ext>
            </a:extLst>
          </p:cNvPr>
          <p:cNvPicPr>
            <a:picLocks noChangeAspect="1"/>
          </p:cNvPicPr>
          <p:nvPr/>
        </p:nvPicPr>
        <p:blipFill>
          <a:blip r:embed="rId11"/>
          <a:stretch>
            <a:fillRect/>
          </a:stretch>
        </p:blipFill>
        <p:spPr>
          <a:xfrm>
            <a:off x="7340963" y="3318174"/>
            <a:ext cx="3166170" cy="932671"/>
          </a:xfrm>
          <a:prstGeom prst="rect">
            <a:avLst/>
          </a:prstGeom>
        </p:spPr>
      </p:pic>
      <p:pic>
        <p:nvPicPr>
          <p:cNvPr id="6" name="Imagen 5" descr="SED&#10;&#10;El contenido generado por IA puede ser incorrecto.">
            <a:extLst>
              <a:ext uri="{FF2B5EF4-FFF2-40B4-BE49-F238E27FC236}">
                <a16:creationId xmlns:a16="http://schemas.microsoft.com/office/drawing/2014/main" id="{1FCDF345-F305-1C19-4AEC-9E2E602DDB5E}"/>
              </a:ext>
            </a:extLst>
          </p:cNvPr>
          <p:cNvPicPr>
            <a:picLocks noChangeAspect="1"/>
          </p:cNvPicPr>
          <p:nvPr/>
        </p:nvPicPr>
        <p:blipFill>
          <a:blip r:embed="rId12"/>
          <a:stretch>
            <a:fillRect/>
          </a:stretch>
        </p:blipFill>
        <p:spPr>
          <a:xfrm>
            <a:off x="7340964" y="4276719"/>
            <a:ext cx="3166169" cy="863500"/>
          </a:xfrm>
          <a:prstGeom prst="rect">
            <a:avLst/>
          </a:prstGeom>
        </p:spPr>
      </p:pic>
    </p:spTree>
    <p:extLst>
      <p:ext uri="{BB962C8B-B14F-4D97-AF65-F5344CB8AC3E}">
        <p14:creationId xmlns:p14="http://schemas.microsoft.com/office/powerpoint/2010/main" val="21824430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A0FAB-80C1-1B9E-8FBB-9AEF5132E404}"/>
            </a:ext>
          </a:extLst>
        </p:cNvPr>
        <p:cNvGrpSpPr/>
        <p:nvPr/>
      </p:nvGrpSpPr>
      <p:grpSpPr>
        <a:xfrm>
          <a:off x="0" y="0"/>
          <a:ext cx="0" cy="0"/>
          <a:chOff x="0" y="0"/>
          <a:chExt cx="0" cy="0"/>
        </a:xfrm>
      </p:grpSpPr>
      <p:sp>
        <p:nvSpPr>
          <p:cNvPr id="13" name="Título 1">
            <a:extLst>
              <a:ext uri="{FF2B5EF4-FFF2-40B4-BE49-F238E27FC236}">
                <a16:creationId xmlns:a16="http://schemas.microsoft.com/office/drawing/2014/main" id="{FAFF7E4A-0AD2-8847-EA78-FA3CB7E4E0FF}"/>
              </a:ext>
            </a:extLst>
          </p:cNvPr>
          <p:cNvSpPr txBox="1">
            <a:spLocks/>
          </p:cNvSpPr>
          <p:nvPr/>
        </p:nvSpPr>
        <p:spPr>
          <a:xfrm>
            <a:off x="175660" y="-352854"/>
            <a:ext cx="8767172" cy="2069079"/>
          </a:xfrm>
          <a:prstGeom prst="rect">
            <a:avLst/>
          </a:prstGeom>
          <a:noFill/>
          <a:ln>
            <a:no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dirty="0">
                <a:solidFill>
                  <a:srgbClr val="012448"/>
                </a:solidFill>
                <a:latin typeface="Times New Roman" panose="02020603050405020304" pitchFamily="18" charset="0"/>
                <a:ea typeface="Microsoft GothicNeo Light" panose="020B0503020000020004" pitchFamily="34" charset="-127"/>
                <a:cs typeface="Times New Roman" panose="02020603050405020304" pitchFamily="18" charset="0"/>
              </a:rPr>
              <a:t>Formulación del pipeline</a:t>
            </a:r>
          </a:p>
        </p:txBody>
      </p:sp>
      <p:pic>
        <p:nvPicPr>
          <p:cNvPr id="17" name="Imagen 16" descr="INNOVATION FOR BETTER HEALTH&#10;&#10;El contenido generado por IA puede ser incorrecto.">
            <a:extLst>
              <a:ext uri="{FF2B5EF4-FFF2-40B4-BE49-F238E27FC236}">
                <a16:creationId xmlns:a16="http://schemas.microsoft.com/office/drawing/2014/main" id="{5B474617-15A2-FB02-2D27-8C7B29A6E210}"/>
              </a:ext>
            </a:extLst>
          </p:cNvPr>
          <p:cNvPicPr>
            <a:picLocks noChangeAspect="1"/>
          </p:cNvPicPr>
          <p:nvPr/>
        </p:nvPicPr>
        <p:blipFill>
          <a:blip r:embed="rId3">
            <a:extLst>
              <a:ext uri="{28A0092B-C50C-407E-A947-70E740481C1C}">
                <a14:useLocalDpi xmlns:a14="http://schemas.microsoft.com/office/drawing/2010/main" val="0"/>
              </a:ext>
            </a:extLst>
          </a:blip>
          <a:srcRect l="17191" t="15214" r="17335" b="17724"/>
          <a:stretch>
            <a:fillRect/>
          </a:stretch>
        </p:blipFill>
        <p:spPr>
          <a:xfrm>
            <a:off x="10507133" y="5742691"/>
            <a:ext cx="1397472" cy="954248"/>
          </a:xfrm>
          <a:prstGeom prst="rect">
            <a:avLst/>
          </a:prstGeom>
        </p:spPr>
      </p:pic>
      <p:pic>
        <p:nvPicPr>
          <p:cNvPr id="1026" name="Picture 2" descr="Dbt Logo PNG (Transparent) SVG AI – Free Download">
            <a:extLst>
              <a:ext uri="{FF2B5EF4-FFF2-40B4-BE49-F238E27FC236}">
                <a16:creationId xmlns:a16="http://schemas.microsoft.com/office/drawing/2014/main" id="{0BA15C29-47D2-A018-7516-4A5E4348E4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2402" y="2850348"/>
            <a:ext cx="3030368" cy="11573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D81A3F7-920C-E2DB-4FC7-08DAAFE6D5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1939" y="2850349"/>
            <a:ext cx="4835732" cy="1157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4892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TotalTime>
  <Words>261</Words>
  <Application>Microsoft Office PowerPoint</Application>
  <PresentationFormat>Panorámica</PresentationFormat>
  <Paragraphs>43</Paragraphs>
  <Slides>12</Slides>
  <Notes>12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Aptos</vt:lpstr>
      <vt:lpstr>Aptos Display</vt:lpstr>
      <vt:lpstr>Arial</vt:lpstr>
      <vt:lpstr>Times New Roman</vt:lpstr>
      <vt:lpstr>Tema de Office</vt:lpstr>
      <vt:lpstr> De Bronze a Gold:  Pipeline de Datos en la Industria Farmacéutica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Celia Pérez Díaz</dc:creator>
  <cp:lastModifiedBy>Celia Pérez Díaz</cp:lastModifiedBy>
  <cp:revision>13</cp:revision>
  <dcterms:created xsi:type="dcterms:W3CDTF">2026-04-30T08:27:03Z</dcterms:created>
  <dcterms:modified xsi:type="dcterms:W3CDTF">2026-05-21T09:28:14Z</dcterms:modified>
</cp:coreProperties>
</file>